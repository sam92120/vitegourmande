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1"/>
  </p:notesMasterIdLst>
  <p:sldIdLst>
    <p:sldId id="295" r:id="rId2"/>
    <p:sldId id="294" r:id="rId3"/>
    <p:sldId id="293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06145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964170-B6AD-CB7A-C49D-EE19D5658B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5BE17E-22A6-E51A-6C91-8BEC3010F8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D2F20E-9A4A-B318-5542-8EF1DA70C2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 présenter en 20 secondes. Annoncer le plan : parcours, contexte, puis AT1 (front-end) et AT2 (back-end) dans l’ordre du dossier. Rappeler que le jury a les deux exemplaires papier du DP.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FE8B5-E4E7-DE39-BEA7-D124DB29EB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5363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Compléter avec ton parcours personnel avant Studi (à écrire toi-même : métier précédent, motivation). Justifier le choix : un seul projet qui illustre les deux activités types.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Cahier des charges en 1 minute. Les 5 objectifs serviront de fil conducteur : je les retrouve dans la synthèse finale.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Annoncer le contenu : environnement, charte, maquettes, intégration. Durée conseillée : environ 6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 probable : pourquoi Symfony plutôt que PHP natif ou Laravel ? Réponse : projet structuré et maintenable, sécurité intégrée (CSRF, échappement Twig, requêtes préparées Doctrine), respect du MVC.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Lire la pile de bas en haut : infrastructure, données, application, interface. Chaque couche ne parle qu’à celle du dessous.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Expliquer le lien entre charte et lisibilité : contraste du texte clair sur vert foncé, hiérarchie des boutons.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Méthode : wireframe d’abord (structure), puis maquette (charte appliquée). Citer les figures 2a, 2c, 2e pour les wireframes. Valider l’ergonomie et la navigation avant de coder.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Approche adaptative : mêmes contenus, mise en page réorganisée. Wireframes mobiles : fig. 2g, 2i, 2k.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Montrer que le site suit la maquette. Écarts possibles : cite-les honnêtement (par exemple le champ téléphone ajouté à l’inscription).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Montrer que le site suit la maquette. Écarts possibles : cite-les honnêtement (par exemple le champ téléphone ajouté à l’inscription).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Montrer le lien maquette vers page réelle. Question probable : comment testes-tu le responsive ? Réponse honnête : outils de développement du navigateur et appareils réels. Ne pas prétendre à des tests automatisés si tu n’en as pas fait.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Annoncer : conception, base de données, composants d’accès aux données, composants métier, administration, déploiement. Durée conseillée : environ 8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rôles justifient la sécurité par rôle : ROLE_USER, employé, administrateur. Relier chaque acteur aux accès protégés.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Chaque ligne se vérifie dans le code : rôles stockés dans user.roles, routes /admin réservées, EasyAdmin filtré par rôle. Sois prêt à montrer où l’accès est refusé à un client.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Expliquer les relations : une commande a un menu et un client ; un menu a des plats (table menu_plat) et un thème. En production, MySQL tourne sur JawsDB (Heroku). Le MCD montre la partie relationnelle uniquement ; les statistiques de consultation sont dans MongoDB.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Pourquoi deux bases ? MySQL convient aux données relationnelles et transactionnelles (commandes, utilisateurs). MongoDB convient aux événements horodatés, nombreux et sans jointure, et à leurs agrégations. Doctrine ODM fait le lien avec le document RestaurantActivity. Question probable : que se passe-t-il si MongoDB est indisponible ? Réfléchis à ta réponse : le site doit rester utilisable, seules les statistiques sont touchées.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schéma vient de la base réelle. Prépare deux explications : pourquoi menu_plat est une table de jointure, et pourquoi le jeton de réinitialisation de mot de passe est stocké haché avec une date d’expiration.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Version simplifiée du MCD : lire les cardinalités de gauche à droite. Un utilisateur a plusieurs commandes, chaque commande concerne un menu, un menu a un thème et plusieurs plats.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secrets vivent dans les Config Vars Heroku. Le code ne connaît que les noms des variables. Si MongoDB est indisponible, seules les statistiques sont touchées.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Dérouler un exemple : afficher les menus. Requête, MenuController, MenuRepository, menu/index.html.twig. C’est la question la plus probable du jury.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Schéma à dérouler à voix haute avec un exemple précis : la page des menus avec filtres. C’est la question la plus fréquente du jury.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Dérouler le parcours sur le site déployé. Point à préparer : comment la quantité restante est décrémentée, et ce que devient une commande annulée.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Montre le lien contrôleur, repository, vue. Le contrôleur ne contient pas de SQL. Question possible : pourquoi ne pas afficher les avis non approuvés ? Réponse : modération par l’administrateur.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Expliquer setParameter : la valeur n’est jamais concaténée dans la requête. Signaler que le fichier contient des lignes commentées résiduelles à nettoyer.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fort à défendre : hachage via UserPasswordHasher, jamais de mot de passe en clair. Possible remarque du jury : 6 caractères est court. Prépare une réponse sur ce que tu ferais pour renforcer.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Justifier le choix d’EasyAdmin : gain de temps sur le CRUD, tout en gardant le contrôle des entités. Préciser comment l’accès est limité aux administrateurs.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Insister sur la séparation code et configuration. Production : MySQL sur JawsDB et MongoDB sur Atlas, secrets dans les Config Vars, jamais dans Git.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Ces vérifications sont manuelles. Si le jury demande des tests automatisés, réponds honnêtement et présente-les comme une piste d’amélioration (PHPUnit pour les repositories et les contrôleurs).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Montrer le tableau Trello et le dépôt GitHub si le jury le demande. Question probable : comment fusionnes-tu une branche ? Prépare : git checkout -b, commit, push, merge dans develop.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Relier chaque vulnérabilité à une parade concrète et à un endroit du code : setParameter dans MenuRepository (SQL), jeton CSRF sur la suppression de compte, hasher dans RegistrationController. Ajoute l’échappement automatique de Twig contre XSS. Cite ta source de veille (OWASP Top 10).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Ordre logique de traitement : identité, autorisation, intégrité de la requête, accès aux données, affichage. Chaque barrière correspond à une vulnérabilité de la veille OWASP.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 tableau relie la veille OWASP au code. Pour chaque ligne, prépare l’exemple concret que tu ouvres si le jury le demande.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À préparer avant l’examen : citer la page précise de documentation utilisée (titre, site, URL) et une traduction en français d’un extrait. Ces deux champs sont vides dans ta copie Studi. Explique la casse : Linux distingue Menu.php de menu.php, pas Windows.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Dérouler le parcours en direct sur le site déployé. Ne montre jamais les identifiants de démonstration à l’écran.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Trois rôles : client, employé, administrateur. Les avis sont en attente puis approuvés avant affichage sur l’accueil.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Conclure en 30 secondes : les 5 objectifs du début sont atteints. Ouvrir sur les améliorations : tests automatisés, paiement en ligne, mots de passe plus robustes.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jpg"/><Relationship Id="rId4" Type="http://schemas.openxmlformats.org/officeDocument/2006/relationships/image" Target="../media/image2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jpg"/><Relationship Id="rId4" Type="http://schemas.openxmlformats.org/officeDocument/2006/relationships/image" Target="../media/image4.jp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jpg"/><Relationship Id="rId4" Type="http://schemas.openxmlformats.org/officeDocument/2006/relationships/image" Target="../media/image17.jp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jpg"/><Relationship Id="rId5" Type="http://schemas.openxmlformats.org/officeDocument/2006/relationships/image" Target="../media/image21.jpg"/><Relationship Id="rId4" Type="http://schemas.openxmlformats.org/officeDocument/2006/relationships/image" Target="../media/image20.jp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7BE63F2F-38AA-BB27-551A-E28E2C9C63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5806091"/>
              </p:ext>
            </p:extLst>
          </p:nvPr>
        </p:nvGraphicFramePr>
        <p:xfrm>
          <a:off x="0" y="0"/>
          <a:ext cx="12192000" cy="685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3577129268"/>
                    </a:ext>
                  </a:extLst>
                </a:gridCol>
              </a:tblGrid>
              <a:tr h="6858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80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80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80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80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80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80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80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80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80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80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6000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PRESENTATION DE MON PARCOURT  </a:t>
                      </a:r>
                    </a:p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21420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747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816F9598-7CA7-D9FD-A20A-A1BB1ED413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7038411"/>
              </p:ext>
            </p:extLst>
          </p:nvPr>
        </p:nvGraphicFramePr>
        <p:xfrm>
          <a:off x="0" y="-60384"/>
          <a:ext cx="12192000" cy="836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564519732"/>
                    </a:ext>
                  </a:extLst>
                </a:gridCol>
              </a:tblGrid>
              <a:tr h="836761">
                <a:tc>
                  <a:txBody>
                    <a:bodyPr/>
                    <a:lstStyle/>
                    <a:p>
                      <a:pPr algn="ctr"/>
                      <a:r>
                        <a:rPr lang="fr-FR" sz="4400" dirty="0"/>
                        <a:t>PRESENTATION DE MON PARCOURT 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4841013"/>
                  </a:ext>
                </a:extLst>
              </a:tr>
            </a:tbl>
          </a:graphicData>
        </a:graphic>
      </p:graphicFrame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0F70E874-A095-44ED-4DED-FB2BC4BAE4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5652367"/>
              </p:ext>
            </p:extLst>
          </p:nvPr>
        </p:nvGraphicFramePr>
        <p:xfrm>
          <a:off x="0" y="719665"/>
          <a:ext cx="12192000" cy="61383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1112784810"/>
                    </a:ext>
                  </a:extLst>
                </a:gridCol>
              </a:tblGrid>
              <a:tr h="6138335">
                <a:tc>
                  <a:txBody>
                    <a:bodyPr/>
                    <a:lstStyle/>
                    <a:p>
                      <a:endParaRPr lang="fr-FR" sz="2400" b="1" i="1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fr-FR" sz="2400" b="1" i="1" u="sng" dirty="0">
                          <a:solidFill>
                            <a:sysClr val="windowText" lastClr="000000"/>
                          </a:solidFill>
                        </a:rPr>
                        <a:t>Activité – Type 1 : Développer la partie </a:t>
                      </a:r>
                      <a:r>
                        <a:rPr lang="fr-FR" sz="2400" b="1" i="1" u="sng" dirty="0" err="1">
                          <a:solidFill>
                            <a:sysClr val="windowText" lastClr="000000"/>
                          </a:solidFill>
                        </a:rPr>
                        <a:t>front-end</a:t>
                      </a:r>
                      <a:r>
                        <a:rPr lang="fr-FR" sz="2400" b="1" i="1" u="sng" dirty="0">
                          <a:solidFill>
                            <a:sysClr val="windowText" lastClr="000000"/>
                          </a:solidFill>
                        </a:rPr>
                        <a:t> d'une application web ou web mobile</a:t>
                      </a:r>
                    </a:p>
                    <a:p>
                      <a:pPr algn="l"/>
                      <a:r>
                        <a:rPr lang="fr-FR" sz="2400" b="1" i="1" u="sng" dirty="0">
                          <a:solidFill>
                            <a:sysClr val="windowText" lastClr="000000"/>
                          </a:solidFill>
                        </a:rPr>
                        <a:t>Sécurisée</a:t>
                      </a:r>
                    </a:p>
                    <a:p>
                      <a:pPr algn="l"/>
                      <a:endParaRPr lang="fr-FR" sz="2400" b="1" i="1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fr-FR" sz="1800" b="0" i="1" dirty="0">
                          <a:solidFill>
                            <a:sysClr val="windowText" lastClr="000000"/>
                          </a:solidFill>
                        </a:rPr>
                        <a:t>-   </a:t>
                      </a:r>
                      <a:r>
                        <a:rPr lang="fr-FR" sz="1800" b="1" i="1" dirty="0">
                          <a:solidFill>
                            <a:sysClr val="windowText" lastClr="000000"/>
                          </a:solidFill>
                        </a:rPr>
                        <a:t>Installer et configurer son environnement de travail en fonction du projet web ou web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fr-FR" sz="1800" b="1" i="1" dirty="0">
                          <a:solidFill>
                            <a:sysClr val="windowText" lastClr="000000"/>
                          </a:solidFill>
                        </a:rPr>
                        <a:t>Mobile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fr-FR" sz="1800" b="1" i="1" dirty="0">
                          <a:solidFill>
                            <a:sysClr val="windowText" lastClr="000000"/>
                          </a:solidFill>
                        </a:rPr>
                        <a:t>Maquetter des interfaces utilisateur web ou web mobile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fr-FR" sz="1800" b="1" i="1" dirty="0">
                          <a:solidFill>
                            <a:sysClr val="windowText" lastClr="000000"/>
                          </a:solidFill>
                        </a:rPr>
                        <a:t>Réaliser des interfaces utilisateur statiques web ou web mobile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fr-FR" sz="1800" b="1" i="1" dirty="0">
                          <a:solidFill>
                            <a:sysClr val="windowText" lastClr="000000"/>
                          </a:solidFill>
                        </a:rPr>
                        <a:t>Développer la partie dynamique des interfaces utilisateur web ou web mobile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800" b="1" i="1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800" b="1" i="1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800" b="1" i="1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marL="0" indent="0" algn="l">
                        <a:buNone/>
                      </a:pPr>
                      <a:endParaRPr lang="fr-FR" sz="1800" b="0" i="1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fr-FR" sz="2400" b="1" i="1" u="sng" dirty="0">
                          <a:solidFill>
                            <a:sysClr val="windowText" lastClr="000000"/>
                          </a:solidFill>
                        </a:rPr>
                        <a:t>Activité – Type 2 : Développer la partie </a:t>
                      </a:r>
                      <a:r>
                        <a:rPr lang="fr-FR" sz="2400" b="1" i="1" u="sng" dirty="0" err="1">
                          <a:solidFill>
                            <a:sysClr val="windowText" lastClr="000000"/>
                          </a:solidFill>
                        </a:rPr>
                        <a:t>back-end</a:t>
                      </a:r>
                      <a:r>
                        <a:rPr lang="fr-FR" sz="2400" b="1" i="1" u="sng" dirty="0">
                          <a:solidFill>
                            <a:sysClr val="windowText" lastClr="000000"/>
                          </a:solidFill>
                        </a:rPr>
                        <a:t> d'une application web ou web mobile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fr-FR" sz="2400" b="1" i="1" u="sng" dirty="0">
                          <a:solidFill>
                            <a:sysClr val="windowText" lastClr="000000"/>
                          </a:solidFill>
                        </a:rPr>
                        <a:t>Sécurisée</a:t>
                      </a:r>
                    </a:p>
                    <a:p>
                      <a:pPr marL="0" indent="0" algn="l">
                        <a:buNone/>
                      </a:pPr>
                      <a:endParaRPr lang="fr-FR" sz="1800" b="1" i="1" u="sng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marL="342900" indent="-342900" algn="l">
                        <a:buFontTx/>
                        <a:buChar char="-"/>
                      </a:pPr>
                      <a:r>
                        <a:rPr lang="fr-FR" sz="1800" b="1" i="0" u="none" dirty="0">
                          <a:solidFill>
                            <a:sysClr val="windowText" lastClr="000000"/>
                          </a:solidFill>
                        </a:rPr>
                        <a:t>Mettre en place une base de données relationnelle</a:t>
                      </a:r>
                    </a:p>
                    <a:p>
                      <a:pPr marL="342900" indent="-342900" algn="l">
                        <a:buFontTx/>
                        <a:buChar char="-"/>
                      </a:pPr>
                      <a:r>
                        <a:rPr lang="fr-FR" sz="1800" b="1" i="0" u="none" dirty="0">
                          <a:solidFill>
                            <a:sysClr val="windowText" lastClr="000000"/>
                          </a:solidFill>
                        </a:rPr>
                        <a:t>Développer des composants d'accès aux données SQL et NoSQL</a:t>
                      </a:r>
                    </a:p>
                    <a:p>
                      <a:pPr marL="342900" indent="-342900" algn="l">
                        <a:buFontTx/>
                        <a:buChar char="-"/>
                      </a:pPr>
                      <a:r>
                        <a:rPr lang="fr-FR" sz="1800" b="1" i="0" u="none" dirty="0">
                          <a:solidFill>
                            <a:sysClr val="windowText" lastClr="000000"/>
                          </a:solidFill>
                        </a:rPr>
                        <a:t>Développer des composants métier coté serveur</a:t>
                      </a:r>
                    </a:p>
                    <a:p>
                      <a:pPr marL="342900" indent="-342900" algn="l">
                        <a:buFontTx/>
                        <a:buChar char="-"/>
                      </a:pPr>
                      <a:r>
                        <a:rPr lang="fr-FR" sz="1800" b="1" i="0" u="none" dirty="0">
                          <a:solidFill>
                            <a:sysClr val="windowText" lastClr="000000"/>
                          </a:solidFill>
                        </a:rPr>
                        <a:t>Documenter le déploiement d'une application dynamique web ou web mobile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40888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58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3D2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8669E5-8818-5883-D978-F72F0F8DD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7748416-F151-F0B6-7BCF-146DA28A5135}"/>
              </a:ext>
            </a:extLst>
          </p:cNvPr>
          <p:cNvSpPr txBox="1"/>
          <p:nvPr/>
        </p:nvSpPr>
        <p:spPr>
          <a:xfrm>
            <a:off x="731520" y="20116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Vite &amp; Gourmand</a:t>
            </a:r>
            <a:endParaRPr lang="en-US" sz="5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D4A050C-17F3-649D-0A93-385B2F139103}"/>
              </a:ext>
            </a:extLst>
          </p:cNvPr>
          <p:cNvSpPr txBox="1"/>
          <p:nvPr/>
        </p:nvSpPr>
        <p:spPr>
          <a:xfrm>
            <a:off x="731520" y="31089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E0B23A"/>
                </a:solidFill>
              </a:rPr>
              <a:t>Application web de restauration événementielle</a:t>
            </a:r>
            <a:endParaRPr lang="en-US" sz="2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7A2FE82-4C31-094A-4186-63B9EE2AB8D2}"/>
              </a:ext>
            </a:extLst>
          </p:cNvPr>
          <p:cNvSpPr txBox="1"/>
          <p:nvPr/>
        </p:nvSpPr>
        <p:spPr>
          <a:xfrm>
            <a:off x="731520" y="4206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Samuel Metelus · Titre professionnel Développeur web et web mobile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Exemples de pratique professionnelle : Activités types 1 et 2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828096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 parcours et le choix du projet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D5F55"/>
                </a:solidFill>
              </a:rPr>
              <a:t>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09728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Développeur web et web mobile chez Studi</a:t>
            </a:r>
            <a:endParaRPr lang="en-US" sz="20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ECF réalisé du 04/01/2024 au 28/04/2025</a:t>
            </a:r>
            <a:endParaRPr lang="en-US" sz="20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choisi car il couvre tout : maquettes, interface, base de données, sécurité, déploiement</a:t>
            </a:r>
            <a:endParaRPr lang="en-US" sz="20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Réalisé seul, avec la documentation officielle Symfony, Doctrine et PHP</a:t>
            </a:r>
            <a:endParaRPr lang="en-US" sz="20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j’en retiens : autonomie et méthode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Contexte et objectifs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D5F55"/>
                </a:solidFill>
              </a:rPr>
              <a:t>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972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Entreprise bordelaise fondée il y a 25 ans par Julie et José</a:t>
            </a:r>
            <a:endParaRPr lang="en-US" sz="18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Menus renouvelés, envoyés par e-mail à une clientèle fidèle</a:t>
            </a:r>
            <a:endParaRPr lang="en-US" sz="18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 : application web pour élargir le public et prendre des commandes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3474720"/>
            <a:ext cx="2029968" cy="2011680"/>
          </a:xfrm>
          <a:prstGeom prst="rect">
            <a:avLst/>
          </a:prstGeom>
          <a:solidFill>
            <a:srgbClr val="E8EEE9"/>
          </a:solidFill>
          <a:ln w="12700">
            <a:solidFill>
              <a:srgbClr val="E8EEE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 txBox="1"/>
          <p:nvPr/>
        </p:nvSpPr>
        <p:spPr>
          <a:xfrm>
            <a:off x="731520" y="361188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2E"/>
                </a:solidFill>
              </a:rPr>
              <a:t>Visibilité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4114800"/>
            <a:ext cx="16642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24"/>
                </a:solidFill>
              </a:rPr>
              <a:t>Être trouvé sur Internet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807208" y="3474720"/>
            <a:ext cx="2029968" cy="2011680"/>
          </a:xfrm>
          <a:prstGeom prst="rect">
            <a:avLst/>
          </a:prstGeom>
          <a:solidFill>
            <a:srgbClr val="E8EEE9"/>
          </a:solidFill>
          <a:ln w="12700">
            <a:solidFill>
              <a:srgbClr val="E8EEE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 txBox="1"/>
          <p:nvPr/>
        </p:nvSpPr>
        <p:spPr>
          <a:xfrm>
            <a:off x="2990088" y="361188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2E"/>
                </a:solidFill>
              </a:rPr>
              <a:t>Consultation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2990088" y="4114800"/>
            <a:ext cx="16642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24"/>
                </a:solidFill>
              </a:rPr>
              <a:t>Parcourir plats et menus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65776" y="3474720"/>
            <a:ext cx="2029968" cy="2011680"/>
          </a:xfrm>
          <a:prstGeom prst="rect">
            <a:avLst/>
          </a:prstGeom>
          <a:solidFill>
            <a:srgbClr val="E8EEE9"/>
          </a:solidFill>
          <a:ln w="12700">
            <a:solidFill>
              <a:srgbClr val="E8EEE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 txBox="1"/>
          <p:nvPr/>
        </p:nvSpPr>
        <p:spPr>
          <a:xfrm>
            <a:off x="5248656" y="361188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2E"/>
                </a:solidFill>
              </a:rPr>
              <a:t>Commande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248656" y="4114800"/>
            <a:ext cx="16642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24"/>
                </a:solidFill>
              </a:rPr>
              <a:t>Panier et commande en ligne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24344" y="3474720"/>
            <a:ext cx="2029968" cy="2011680"/>
          </a:xfrm>
          <a:prstGeom prst="rect">
            <a:avLst/>
          </a:prstGeom>
          <a:solidFill>
            <a:srgbClr val="E8EEE9"/>
          </a:solidFill>
          <a:ln w="12700">
            <a:solidFill>
              <a:srgbClr val="E8EEE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 txBox="1"/>
          <p:nvPr/>
        </p:nvSpPr>
        <p:spPr>
          <a:xfrm>
            <a:off x="7507224" y="361188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2E"/>
                </a:solidFill>
              </a:rPr>
              <a:t>Administration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507224" y="4114800"/>
            <a:ext cx="16642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24"/>
                </a:solidFill>
              </a:rPr>
              <a:t>Gérer menus, plats, commandes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582912" y="3474720"/>
            <a:ext cx="2029968" cy="2011680"/>
          </a:xfrm>
          <a:prstGeom prst="rect">
            <a:avLst/>
          </a:prstGeom>
          <a:solidFill>
            <a:srgbClr val="E8EEE9"/>
          </a:solidFill>
          <a:ln w="12700">
            <a:solidFill>
              <a:srgbClr val="E8EEE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 txBox="1"/>
          <p:nvPr/>
        </p:nvSpPr>
        <p:spPr>
          <a:xfrm>
            <a:off x="9765792" y="361188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2E"/>
                </a:solidFill>
              </a:rPr>
              <a:t>Sécurité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9765792" y="4114800"/>
            <a:ext cx="16642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24"/>
                </a:solidFill>
              </a:rPr>
              <a:t>Accès selon le rôle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3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2860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Activité type 1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4747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0B23A"/>
                </a:solidFill>
              </a:rPr>
              <a:t>Développer la partie front-end d’une application web ou web mobile sécurisée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Environnement et outils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D5F55"/>
                </a:solidFill>
              </a:rPr>
              <a:t>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029968" cy="2377440"/>
          </a:xfrm>
          <a:prstGeom prst="rect">
            <a:avLst/>
          </a:prstGeom>
          <a:solidFill>
            <a:srgbClr val="E8EEE9"/>
          </a:solidFill>
          <a:ln w="12700">
            <a:solidFill>
              <a:srgbClr val="E8EEE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 txBox="1"/>
          <p:nvPr/>
        </p:nvSpPr>
        <p:spPr>
          <a:xfrm>
            <a:off x="731520" y="160020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2E"/>
                </a:solidFill>
              </a:rPr>
              <a:t>Symfony 8, PHP 8.5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03120"/>
            <a:ext cx="166420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24"/>
                </a:solidFill>
              </a:rPr>
              <a:t>Framework MVC, protections CSRF, XSS, injection SQL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807208" y="1463040"/>
            <a:ext cx="2029968" cy="2377440"/>
          </a:xfrm>
          <a:prstGeom prst="rect">
            <a:avLst/>
          </a:prstGeom>
          <a:solidFill>
            <a:srgbClr val="E8EEE9"/>
          </a:solidFill>
          <a:ln w="12700">
            <a:solidFill>
              <a:srgbClr val="E8EEE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 txBox="1"/>
          <p:nvPr/>
        </p:nvSpPr>
        <p:spPr>
          <a:xfrm>
            <a:off x="2990088" y="160020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2E"/>
                </a:solidFill>
              </a:rPr>
              <a:t>Composer, Symfony CLI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990088" y="2103120"/>
            <a:ext cx="166420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24"/>
                </a:solidFill>
              </a:rPr>
              <a:t>Dépendances et serveur local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65776" y="1463040"/>
            <a:ext cx="2029968" cy="2377440"/>
          </a:xfrm>
          <a:prstGeom prst="rect">
            <a:avLst/>
          </a:prstGeom>
          <a:solidFill>
            <a:srgbClr val="E8EEE9"/>
          </a:solidFill>
          <a:ln w="12700">
            <a:solidFill>
              <a:srgbClr val="E8EEE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 txBox="1"/>
          <p:nvPr/>
        </p:nvSpPr>
        <p:spPr>
          <a:xfrm>
            <a:off x="5248656" y="160020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2E"/>
                </a:solidFill>
              </a:rPr>
              <a:t>Git, GitHub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248656" y="2103120"/>
            <a:ext cx="166420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24"/>
                </a:solidFill>
              </a:rPr>
              <a:t>Versions, branche develop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24344" y="1463040"/>
            <a:ext cx="2029968" cy="2377440"/>
          </a:xfrm>
          <a:prstGeom prst="rect">
            <a:avLst/>
          </a:prstGeom>
          <a:solidFill>
            <a:srgbClr val="E8EEE9"/>
          </a:solidFill>
          <a:ln w="12700">
            <a:solidFill>
              <a:srgbClr val="E8EEE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 txBox="1"/>
          <p:nvPr/>
        </p:nvSpPr>
        <p:spPr>
          <a:xfrm>
            <a:off x="7507224" y="160020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2E"/>
                </a:solidFill>
              </a:rPr>
              <a:t>VS Code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507224" y="2103120"/>
            <a:ext cx="166420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24"/>
                </a:solidFill>
              </a:rPr>
              <a:t>Éditeur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582912" y="1463040"/>
            <a:ext cx="2029968" cy="2377440"/>
          </a:xfrm>
          <a:prstGeom prst="rect">
            <a:avLst/>
          </a:prstGeom>
          <a:solidFill>
            <a:srgbClr val="E8EEE9"/>
          </a:solidFill>
          <a:ln w="12700">
            <a:solidFill>
              <a:srgbClr val="E8EEE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 txBox="1"/>
          <p:nvPr/>
        </p:nvSpPr>
        <p:spPr>
          <a:xfrm>
            <a:off x="9765792" y="160020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2E"/>
                </a:solidFill>
              </a:rPr>
              <a:t>Figma, Canva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9765792" y="2103120"/>
            <a:ext cx="166420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24"/>
                </a:solidFill>
              </a:rPr>
              <a:t>Maquettes, images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2976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D5F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symfony new ViteGourmand --webapp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937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2A24"/>
                </a:solidFill>
              </a:rPr>
              <a:t>Pourquoi Symfony ? Structure claire, évolutivité, sécurité native.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Pile technique en couches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D5F55"/>
                </a:solidFill>
              </a:rPr>
              <a:t>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2103120" cy="1005840"/>
          </a:xfrm>
          <a:prstGeom prst="rect">
            <a:avLst/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 txBox="1"/>
          <p:nvPr/>
        </p:nvSpPr>
        <p:spPr>
          <a:xfrm>
            <a:off x="548640" y="13258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Interface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834640" y="1325880"/>
            <a:ext cx="2091690" cy="1005840"/>
          </a:xfrm>
          <a:prstGeom prst="roundRect">
            <a:avLst>
              <a:gd name="adj" fmla="val 7273"/>
            </a:avLst>
          </a:prstGeom>
          <a:solidFill>
            <a:srgbClr val="E8EEE9"/>
          </a:solidFill>
          <a:ln w="12700">
            <a:solidFill>
              <a:srgbClr val="E8EEE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 txBox="1"/>
          <p:nvPr/>
        </p:nvSpPr>
        <p:spPr>
          <a:xfrm>
            <a:off x="2880360" y="1325880"/>
            <a:ext cx="200025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Twig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63490" y="1325880"/>
            <a:ext cx="2091690" cy="1005840"/>
          </a:xfrm>
          <a:prstGeom prst="roundRect">
            <a:avLst>
              <a:gd name="adj" fmla="val 7273"/>
            </a:avLst>
          </a:prstGeom>
          <a:solidFill>
            <a:srgbClr val="E8EEE9"/>
          </a:solidFill>
          <a:ln w="12700">
            <a:solidFill>
              <a:srgbClr val="E8EEE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 txBox="1"/>
          <p:nvPr/>
        </p:nvSpPr>
        <p:spPr>
          <a:xfrm>
            <a:off x="5109210" y="1325880"/>
            <a:ext cx="200025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292340" y="1325880"/>
            <a:ext cx="2091690" cy="1005840"/>
          </a:xfrm>
          <a:prstGeom prst="roundRect">
            <a:avLst>
              <a:gd name="adj" fmla="val 7273"/>
            </a:avLst>
          </a:prstGeom>
          <a:solidFill>
            <a:srgbClr val="E8EEE9"/>
          </a:solidFill>
          <a:ln w="12700">
            <a:solidFill>
              <a:srgbClr val="E8EEE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 txBox="1"/>
          <p:nvPr/>
        </p:nvSpPr>
        <p:spPr>
          <a:xfrm>
            <a:off x="7338060" y="1325880"/>
            <a:ext cx="200025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AssetMapper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521190" y="1325880"/>
            <a:ext cx="2091690" cy="1005840"/>
          </a:xfrm>
          <a:prstGeom prst="roundRect">
            <a:avLst>
              <a:gd name="adj" fmla="val 7273"/>
            </a:avLst>
          </a:prstGeom>
          <a:solidFill>
            <a:srgbClr val="E8EEE9"/>
          </a:solidFill>
          <a:ln w="12700">
            <a:solidFill>
              <a:srgbClr val="E8EEE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 txBox="1"/>
          <p:nvPr/>
        </p:nvSpPr>
        <p:spPr>
          <a:xfrm>
            <a:off x="9566910" y="1325880"/>
            <a:ext cx="200025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2514600"/>
            <a:ext cx="2103120" cy="1005840"/>
          </a:xfrm>
          <a:prstGeom prst="rect">
            <a:avLst/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 txBox="1"/>
          <p:nvPr/>
        </p:nvSpPr>
        <p:spPr>
          <a:xfrm>
            <a:off x="548640" y="25146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Application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834640" y="2514600"/>
            <a:ext cx="2091690" cy="1005840"/>
          </a:xfrm>
          <a:prstGeom prst="roundRect">
            <a:avLst>
              <a:gd name="adj" fmla="val 7273"/>
            </a:avLst>
          </a:prstGeom>
          <a:solidFill>
            <a:srgbClr val="E8EEE9"/>
          </a:solidFill>
          <a:ln w="12700">
            <a:solidFill>
              <a:srgbClr val="E8EEE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 txBox="1"/>
          <p:nvPr/>
        </p:nvSpPr>
        <p:spPr>
          <a:xfrm>
            <a:off x="2880360" y="2514600"/>
            <a:ext cx="200025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Symfony 8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063490" y="2514600"/>
            <a:ext cx="2091690" cy="1005840"/>
          </a:xfrm>
          <a:prstGeom prst="roundRect">
            <a:avLst>
              <a:gd name="adj" fmla="val 7273"/>
            </a:avLst>
          </a:prstGeom>
          <a:solidFill>
            <a:srgbClr val="E8EEE9"/>
          </a:solidFill>
          <a:ln w="12700">
            <a:solidFill>
              <a:srgbClr val="E8EEE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 txBox="1"/>
          <p:nvPr/>
        </p:nvSpPr>
        <p:spPr>
          <a:xfrm>
            <a:off x="5109210" y="2514600"/>
            <a:ext cx="200025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8.5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292340" y="2514600"/>
            <a:ext cx="2091690" cy="1005840"/>
          </a:xfrm>
          <a:prstGeom prst="roundRect">
            <a:avLst>
              <a:gd name="adj" fmla="val 7273"/>
            </a:avLst>
          </a:prstGeom>
          <a:solidFill>
            <a:srgbClr val="E8EEE9"/>
          </a:solidFill>
          <a:ln w="12700">
            <a:solidFill>
              <a:srgbClr val="E8EEE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 txBox="1"/>
          <p:nvPr/>
        </p:nvSpPr>
        <p:spPr>
          <a:xfrm>
            <a:off x="7338060" y="2514600"/>
            <a:ext cx="200025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Symfony Security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9521190" y="2514600"/>
            <a:ext cx="2091690" cy="1005840"/>
          </a:xfrm>
          <a:prstGeom prst="roundRect">
            <a:avLst>
              <a:gd name="adj" fmla="val 7273"/>
            </a:avLst>
          </a:prstGeom>
          <a:solidFill>
            <a:srgbClr val="E8EEE9"/>
          </a:solidFill>
          <a:ln w="12700">
            <a:solidFill>
              <a:srgbClr val="E8EEE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 txBox="1"/>
          <p:nvPr/>
        </p:nvSpPr>
        <p:spPr>
          <a:xfrm>
            <a:off x="9566910" y="2514600"/>
            <a:ext cx="200025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EasyAdmin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48640" y="3703320"/>
            <a:ext cx="2103120" cy="1005840"/>
          </a:xfrm>
          <a:prstGeom prst="rect">
            <a:avLst/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 txBox="1"/>
          <p:nvPr/>
        </p:nvSpPr>
        <p:spPr>
          <a:xfrm>
            <a:off x="548640" y="37033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Données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2834640" y="3703320"/>
            <a:ext cx="2091690" cy="1005840"/>
          </a:xfrm>
          <a:prstGeom prst="roundRect">
            <a:avLst>
              <a:gd name="adj" fmla="val 7273"/>
            </a:avLst>
          </a:prstGeom>
          <a:solidFill>
            <a:srgbClr val="E8EEE9"/>
          </a:solidFill>
          <a:ln w="12700">
            <a:solidFill>
              <a:srgbClr val="E8EEE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 txBox="1"/>
          <p:nvPr/>
        </p:nvSpPr>
        <p:spPr>
          <a:xfrm>
            <a:off x="2880360" y="3703320"/>
            <a:ext cx="200025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Doctrine ORM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063490" y="3703320"/>
            <a:ext cx="2091690" cy="1005840"/>
          </a:xfrm>
          <a:prstGeom prst="roundRect">
            <a:avLst>
              <a:gd name="adj" fmla="val 7273"/>
            </a:avLst>
          </a:prstGeom>
          <a:solidFill>
            <a:srgbClr val="E8EEE9"/>
          </a:solidFill>
          <a:ln w="12700">
            <a:solidFill>
              <a:srgbClr val="E8EEE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 txBox="1"/>
          <p:nvPr/>
        </p:nvSpPr>
        <p:spPr>
          <a:xfrm>
            <a:off x="5109210" y="3703320"/>
            <a:ext cx="200025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7292340" y="3703320"/>
            <a:ext cx="2091690" cy="1005840"/>
          </a:xfrm>
          <a:prstGeom prst="roundRect">
            <a:avLst>
              <a:gd name="adj" fmla="val 7273"/>
            </a:avLst>
          </a:prstGeom>
          <a:solidFill>
            <a:srgbClr val="E8EEE9"/>
          </a:solidFill>
          <a:ln w="12700">
            <a:solidFill>
              <a:srgbClr val="E8EEE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 txBox="1"/>
          <p:nvPr/>
        </p:nvSpPr>
        <p:spPr>
          <a:xfrm>
            <a:off x="7338060" y="3703320"/>
            <a:ext cx="200025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Doctrine ODM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9521190" y="3703320"/>
            <a:ext cx="2091690" cy="1005840"/>
          </a:xfrm>
          <a:prstGeom prst="roundRect">
            <a:avLst>
              <a:gd name="adj" fmla="val 7273"/>
            </a:avLst>
          </a:prstGeom>
          <a:solidFill>
            <a:srgbClr val="E8EEE9"/>
          </a:solidFill>
          <a:ln w="12700">
            <a:solidFill>
              <a:srgbClr val="E8EEE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 txBox="1"/>
          <p:nvPr/>
        </p:nvSpPr>
        <p:spPr>
          <a:xfrm>
            <a:off x="9566910" y="3703320"/>
            <a:ext cx="200025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548640" y="4892040"/>
            <a:ext cx="2103120" cy="1005840"/>
          </a:xfrm>
          <a:prstGeom prst="rect">
            <a:avLst/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 txBox="1"/>
          <p:nvPr/>
        </p:nvSpPr>
        <p:spPr>
          <a:xfrm>
            <a:off x="548640" y="489204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Infrastructure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2834640" y="4892040"/>
            <a:ext cx="1645920" cy="1005840"/>
          </a:xfrm>
          <a:prstGeom prst="roundRect">
            <a:avLst>
              <a:gd name="adj" fmla="val 7273"/>
            </a:avLst>
          </a:prstGeom>
          <a:solidFill>
            <a:srgbClr val="E8EEE9"/>
          </a:solidFill>
          <a:ln w="12700">
            <a:solidFill>
              <a:srgbClr val="E8EEE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 txBox="1"/>
          <p:nvPr/>
        </p:nvSpPr>
        <p:spPr>
          <a:xfrm>
            <a:off x="2880360" y="489204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Heroku + Apache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4617720" y="4892040"/>
            <a:ext cx="1645920" cy="1005840"/>
          </a:xfrm>
          <a:prstGeom prst="roundRect">
            <a:avLst>
              <a:gd name="adj" fmla="val 7273"/>
            </a:avLst>
          </a:prstGeom>
          <a:solidFill>
            <a:srgbClr val="E8EEE9"/>
          </a:solidFill>
          <a:ln w="12700">
            <a:solidFill>
              <a:srgbClr val="E8EEE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 txBox="1"/>
          <p:nvPr/>
        </p:nvSpPr>
        <p:spPr>
          <a:xfrm>
            <a:off x="4663440" y="489204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JawsDB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6400800" y="4892040"/>
            <a:ext cx="1645920" cy="1005840"/>
          </a:xfrm>
          <a:prstGeom prst="roundRect">
            <a:avLst>
              <a:gd name="adj" fmla="val 7273"/>
            </a:avLst>
          </a:prstGeom>
          <a:solidFill>
            <a:srgbClr val="E8EEE9"/>
          </a:solidFill>
          <a:ln w="12700">
            <a:solidFill>
              <a:srgbClr val="E8EEE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 txBox="1"/>
          <p:nvPr/>
        </p:nvSpPr>
        <p:spPr>
          <a:xfrm>
            <a:off x="6446520" y="489204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8183880" y="4892040"/>
            <a:ext cx="1645920" cy="1005840"/>
          </a:xfrm>
          <a:prstGeom prst="roundRect">
            <a:avLst>
              <a:gd name="adj" fmla="val 7273"/>
            </a:avLst>
          </a:prstGeom>
          <a:solidFill>
            <a:srgbClr val="E8EEE9"/>
          </a:solidFill>
          <a:ln w="12700">
            <a:solidFill>
              <a:srgbClr val="E8EEE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Text 41"/>
          <p:cNvSpPr txBox="1"/>
          <p:nvPr/>
        </p:nvSpPr>
        <p:spPr>
          <a:xfrm>
            <a:off x="8229600" y="489204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9966960" y="4892040"/>
            <a:ext cx="1645920" cy="1005840"/>
          </a:xfrm>
          <a:prstGeom prst="roundRect">
            <a:avLst>
              <a:gd name="adj" fmla="val 7273"/>
            </a:avLst>
          </a:prstGeom>
          <a:solidFill>
            <a:srgbClr val="E8EEE9"/>
          </a:solidFill>
          <a:ln w="12700">
            <a:solidFill>
              <a:srgbClr val="E8EEE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5" name="Text 43"/>
          <p:cNvSpPr txBox="1"/>
          <p:nvPr/>
        </p:nvSpPr>
        <p:spPr>
          <a:xfrm>
            <a:off x="10012680" y="489204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Brevo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Charte graphique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D5F55"/>
                </a:solidFill>
              </a:rPr>
              <a:t>6</a:t>
            </a:r>
            <a:endParaRPr lang="en-US" sz="1000" dirty="0"/>
          </a:p>
        </p:txBody>
      </p:sp>
      <p:pic>
        <p:nvPicPr>
          <p:cNvPr id="4" name="Image 0" descr="im/chart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36567"/>
            <a:ext cx="6766560" cy="464206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680960" y="1554480"/>
            <a:ext cx="40233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 profond en primaire, gris en secondaire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Polices : Inria Serif et Montserrat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Boutons noirs arrondis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Définie avant les maquettes pour garder une interface cohérente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D5F55"/>
                </a:solidFill>
              </a:rPr>
              <a:t>cf. annexes activité 1, fig. 1a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Maquettes desktop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D5F55"/>
                </a:solidFill>
              </a:rPr>
              <a:t>7</a:t>
            </a:r>
            <a:endParaRPr lang="en-US" sz="1000" dirty="0"/>
          </a:p>
        </p:txBody>
      </p:sp>
      <p:pic>
        <p:nvPicPr>
          <p:cNvPr id="4" name="Image 0" descr="im/accuei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561" y="1188720"/>
            <a:ext cx="3738638" cy="5029200"/>
          </a:xfrm>
          <a:prstGeom prst="rect">
            <a:avLst/>
          </a:prstGeom>
        </p:spPr>
      </p:pic>
      <p:pic>
        <p:nvPicPr>
          <p:cNvPr id="5" name="Image 1" descr="im/catalogu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1326" y="1188720"/>
            <a:ext cx="2275988" cy="5029200"/>
          </a:xfrm>
          <a:prstGeom prst="rect">
            <a:avLst/>
          </a:prstGeom>
        </p:spPr>
      </p:pic>
      <p:pic>
        <p:nvPicPr>
          <p:cNvPr id="6" name="Image 2" descr="im/login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0" y="1404518"/>
            <a:ext cx="4114800" cy="4597603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D5F55"/>
                </a:solidFill>
              </a:rPr>
              <a:t>cf. annexes activité 1, fig. 2b (accueil), 2d (catalogue), 2f (connexion)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Maquettes mobile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D5F55"/>
                </a:solidFill>
              </a:rPr>
              <a:t>8</a:t>
            </a:r>
            <a:endParaRPr lang="en-US" sz="1000" dirty="0"/>
          </a:p>
        </p:txBody>
      </p:sp>
      <p:pic>
        <p:nvPicPr>
          <p:cNvPr id="4" name="Image 0" descr="im/mobil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429" y="1188720"/>
            <a:ext cx="3396343" cy="5029200"/>
          </a:xfrm>
          <a:prstGeom prst="rect">
            <a:avLst/>
          </a:prstGeom>
        </p:spPr>
      </p:pic>
      <p:pic>
        <p:nvPicPr>
          <p:cNvPr id="5" name="Image 1" descr="im/admin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1858" y="1188720"/>
            <a:ext cx="2417885" cy="5029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8229600" y="164592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burger, sections empilées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Grille de plats sur 2 colonnes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 admin en cartes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D5F55"/>
                </a:solidFill>
              </a:rPr>
              <a:t>cf. annexes activité 1, fig. 2h (accueil mobile) et 2l (admin mobile)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 wireframe au site : Accueil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D5F55"/>
                </a:solidFill>
              </a:rPr>
              <a:t>9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2E"/>
                </a:solidFill>
              </a:rPr>
              <a:t>Wireframe</a:t>
            </a:r>
            <a:endParaRPr lang="en-US" sz="1600" dirty="0"/>
          </a:p>
        </p:txBody>
      </p:sp>
      <p:pic>
        <p:nvPicPr>
          <p:cNvPr id="5" name="Image 0" descr="im/w_accuei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988" y="1645920"/>
            <a:ext cx="3565184" cy="40233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343400" y="118872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2E"/>
                </a:solidFill>
              </a:rPr>
              <a:t>Maquette Figma</a:t>
            </a:r>
            <a:endParaRPr lang="en-US" sz="1600" dirty="0"/>
          </a:p>
        </p:txBody>
      </p:sp>
      <p:pic>
        <p:nvPicPr>
          <p:cNvPr id="7" name="Image 1" descr="im/accueil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3885" y="1645920"/>
            <a:ext cx="2990910" cy="40233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138160" y="118872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2E"/>
                </a:solidFill>
              </a:rPr>
              <a:t>Site réel</a:t>
            </a:r>
            <a:endParaRPr lang="en-US" sz="1600" dirty="0"/>
          </a:p>
        </p:txBody>
      </p:sp>
      <p:pic>
        <p:nvPicPr>
          <p:cNvPr id="9" name="Image 2" descr="im/m_accueil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0" y="2622575"/>
            <a:ext cx="3611880" cy="207005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548640" y="5760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A24"/>
                </a:solidFill>
              </a:rPr>
              <a:t>De la structure à la page réelle : la maquette applique la charte, le site reprend la maquette.</a:t>
            </a:r>
            <a:endParaRPr lang="en-US" sz="1500" dirty="0"/>
          </a:p>
        </p:txBody>
      </p:sp>
      <p:sp>
        <p:nvSpPr>
          <p:cNvPr id="11" name="Text 6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D5F55"/>
                </a:solidFill>
              </a:rPr>
              <a:t>cf. annexes activité 1, fig. 2a, 2b ; manuel utilisateur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 wireframe au site : Connexion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D5F55"/>
                </a:solidFill>
              </a:rPr>
              <a:t>10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2E"/>
                </a:solidFill>
              </a:rPr>
              <a:t>Wireframe</a:t>
            </a:r>
            <a:endParaRPr lang="en-US" sz="1600" dirty="0"/>
          </a:p>
        </p:txBody>
      </p:sp>
      <p:pic>
        <p:nvPicPr>
          <p:cNvPr id="5" name="Image 0" descr="im/w_logi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962" y="1645920"/>
            <a:ext cx="3545236" cy="40233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343400" y="118872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2E"/>
                </a:solidFill>
              </a:rPr>
              <a:t>Maquette Figma</a:t>
            </a:r>
            <a:endParaRPr lang="en-US" sz="1600" dirty="0"/>
          </a:p>
        </p:txBody>
      </p:sp>
      <p:pic>
        <p:nvPicPr>
          <p:cNvPr id="7" name="Image 1" descr="im/login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8910" y="1645920"/>
            <a:ext cx="3600859" cy="40233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138160" y="118872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2E"/>
                </a:solidFill>
              </a:rPr>
              <a:t>Site réel</a:t>
            </a:r>
            <a:endParaRPr lang="en-US" sz="1600" dirty="0"/>
          </a:p>
        </p:txBody>
      </p:sp>
      <p:pic>
        <p:nvPicPr>
          <p:cNvPr id="9" name="Image 2" descr="im/m_login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0" y="1836611"/>
            <a:ext cx="3611880" cy="3641979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548640" y="5760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A24"/>
                </a:solidFill>
              </a:rPr>
              <a:t>Même formulaire à chaque étape : e-mail, mot de passe, lien de récupération et d’inscription.</a:t>
            </a:r>
            <a:endParaRPr lang="en-US" sz="1500" dirty="0"/>
          </a:p>
        </p:txBody>
      </p:sp>
      <p:sp>
        <p:nvSpPr>
          <p:cNvPr id="11" name="Text 6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D5F55"/>
                </a:solidFill>
              </a:rPr>
              <a:t>cf. annexes activité 1, fig. 2e, 2f ; manuel utilisateur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Intégration et interfaces dynamiques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D5F55"/>
                </a:solidFill>
              </a:rPr>
              <a:t>11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9728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HTML, CSS et Bootstrap à partir des maquettes</a:t>
            </a:r>
            <a:endParaRPr lang="en-US" sz="20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Twig : sépare la logique de la présentation</a:t>
            </a:r>
            <a:endParaRPr lang="en-US" sz="20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responsives, ordinateur et smartphone</a:t>
            </a:r>
            <a:endParaRPr lang="en-US" sz="20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Menus lus en base de données</a:t>
            </a:r>
            <a:endParaRPr lang="en-US" sz="20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Formulaires sécurisés par jeton CSRF (inscription, connexion, commande)</a:t>
            </a:r>
            <a:endParaRPr lang="en-US" sz="20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Carrousel d’avis : uniquement les avis approuvés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D5F55"/>
                </a:solidFill>
              </a:rPr>
              <a:t>cf. annexes activité 2, fig. 3a et 3j (accueil), 3i (inscription)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3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2860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Activité type 2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4747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0B23A"/>
                </a:solidFill>
              </a:rPr>
              <a:t>Développer la partie back-end d’une application web ou web mobile sécurisée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Conception : cas d’utilisation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D5F55"/>
                </a:solidFill>
              </a:rPr>
              <a:t>12</a:t>
            </a:r>
            <a:endParaRPr lang="en-US" sz="1000" dirty="0"/>
          </a:p>
        </p:txBody>
      </p:sp>
      <p:pic>
        <p:nvPicPr>
          <p:cNvPr id="4" name="Image 0" descr="im/usecas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9713" y="1188720"/>
            <a:ext cx="3955694" cy="51206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583680" y="1554480"/>
            <a:ext cx="51206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Visiteur : consulter les menus, s’inscrire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: commander, gérer son profil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Employé : gérer menus, plats, commandes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Administrateur : tout, plus statistiques, clients, employés, images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D5F55"/>
                </a:solidFill>
              </a:rPr>
              <a:t>cf. annexes, fig. 5a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Rôles et droits d’accès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D5F55"/>
                </a:solidFill>
              </a:rPr>
              <a:t>13</a:t>
            </a:r>
            <a:endParaRPr lang="en-US" sz="1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2438400"/>
        </p:xfrm>
        <a:graphic>
          <a:graphicData uri="http://schemas.openxmlformats.org/drawingml/2006/table">
            <a:tbl>
              <a:tblPr/>
              <a:tblGrid>
                <a:gridCol w="4846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Fonctionnalité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Visiteur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Client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Employé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Admin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</a:rPr>
                        <a:t>Consulter menus, plats, galerie, avis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</a:rPr>
                        <a:t>Oui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</a:rPr>
                        <a:t>Oui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</a:rPr>
                        <a:t>Oui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</a:rPr>
                        <a:t>Oui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</a:rPr>
                        <a:t>Créer un compte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</a:rPr>
                        <a:t>Oui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</a:rPr>
                        <a:t>-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</a:rPr>
                        <a:t>-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</a:rPr>
                        <a:t>-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</a:rPr>
                        <a:t>Commander, gérer son compte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</a:rPr>
                        <a:t>-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</a:rPr>
                        <a:t>Oui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</a:rPr>
                        <a:t>-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</a:rPr>
                        <a:t>-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</a:rPr>
                        <a:t>Modifier ou annuler une commande (à la demande du client)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</a:rPr>
                        <a:t>-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</a:rPr>
                        <a:t>Les siennes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</a:rPr>
                        <a:t>Oui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</a:rPr>
                        <a:t>Oui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</a:rPr>
                        <a:t>Gérer les commandes et les menus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</a:rPr>
                        <a:t>-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</a:rPr>
                        <a:t>-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</a:rPr>
                        <a:t>Oui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</a:rPr>
                        <a:t>Oui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</a:rPr>
                        <a:t>Gérer plats, avis, utilisateurs, employés, images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</a:rPr>
                        <a:t>-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</a:rPr>
                        <a:t>-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</a:rPr>
                        <a:t>-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</a:rPr>
                        <a:t>Oui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</a:rPr>
                        <a:t>Statistiques (dashboard EasyAdmin)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</a:rPr>
                        <a:t>-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</a:rPr>
                        <a:t>-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</a:rPr>
                        <a:t>-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</a:rPr>
                        <a:t>Oui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D5F55"/>
                </a:solidFill>
              </a:rPr>
              <a:t>cf. README (fonctionnalités par rôle) et annexes, fig. 5a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 de données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D5F55"/>
                </a:solidFill>
              </a:rPr>
              <a:t>14</a:t>
            </a:r>
            <a:endParaRPr lang="en-US" sz="1000" dirty="0"/>
          </a:p>
        </p:txBody>
      </p:sp>
      <p:pic>
        <p:nvPicPr>
          <p:cNvPr id="4" name="Image 0" descr="im/mc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10586"/>
            <a:ext cx="6949440" cy="498546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772400" y="1554480"/>
            <a:ext cx="39319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: source de vérité des données métier, relations définies par les entités Doctrine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: user, menu, plat, commande, avis, theme, horaire, contact, notification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Migrations pour créer et faire évoluer la structure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: activité et statistiques (diapo suivante)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D5F55"/>
                </a:solidFill>
              </a:rPr>
              <a:t>cf. annexes, fig. 4a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 de données hybride : MySQL et MongoDB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D5F55"/>
                </a:solidFill>
              </a:rPr>
              <a:t>15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5394960" cy="1920240"/>
          </a:xfrm>
          <a:prstGeom prst="rect">
            <a:avLst/>
          </a:prstGeom>
          <a:solidFill>
            <a:srgbClr val="E8EEE9"/>
          </a:solidFill>
          <a:ln w="12700">
            <a:solidFill>
              <a:srgbClr val="E8EEE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D2E"/>
                </a:solidFill>
              </a:rPr>
              <a:t>MySQL : données métier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87452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A24"/>
                </a:solidFill>
              </a:rPr>
              <a:t>Utilisateurs, rôles, menus, plats, commandes, avis, thèmes, horaires, notifications.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A24"/>
                </a:solidFill>
              </a:rPr>
              <a:t>Source de vérité, gérée par Doctrine ORM et les migrations.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1280160"/>
            <a:ext cx="5394960" cy="1920240"/>
          </a:xfrm>
          <a:prstGeom prst="rect">
            <a:avLst/>
          </a:prstGeom>
          <a:solidFill>
            <a:srgbClr val="E8EEE9"/>
          </a:solidFill>
          <a:ln w="12700">
            <a:solidFill>
              <a:srgbClr val="E8EEE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D2E"/>
                </a:solidFill>
              </a:rPr>
              <a:t>MongoDB : données d’activité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187452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A24"/>
                </a:solidFill>
              </a:rPr>
              <a:t>Collection restaurant_activity : consultations de menus et de plats, date, utilisateur éventuel, métadonnées.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A24"/>
                </a:solidFill>
              </a:rPr>
              <a:t>Aucune copie des menus ni des plats.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520440"/>
            <a:ext cx="5669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visiteur consulte un menu : Symfony le lit dans MySQL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RestaurantActivityService écrit l’événement dans MongoDB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dashboard EasyAdmin agrège les données (Chart.js)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Menus les plus consultés, évolution sur 7 jours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583680" y="3520440"/>
            <a:ext cx="5029200" cy="2377440"/>
          </a:xfrm>
          <a:prstGeom prst="rect">
            <a:avLst/>
          </a:prstGeom>
          <a:solidFill>
            <a:srgbClr val="1F2A24"/>
          </a:solidFill>
          <a:ln w="12700">
            <a:solidFill>
              <a:srgbClr val="1F2A2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 txBox="1"/>
          <p:nvPr/>
        </p:nvSpPr>
        <p:spPr>
          <a:xfrm>
            <a:off x="6766560" y="3611880"/>
            <a:ext cx="4663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8E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"type": "menu_view",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"menuId": 1,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"userId": 1,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"date": "2026-09-27T21:17:12Z",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"metadata": {"page": "menu_show"}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E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D5F55"/>
                </a:solidFill>
              </a:rPr>
              <a:t>cf. README, architecture des bases de données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Modèle de données : relations principales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D5F55"/>
                </a:solidFill>
              </a:rPr>
              <a:t>16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D2E"/>
                </a:solidFill>
              </a:rPr>
              <a:t>Relations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5394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utilisateur passe plusieurs commandes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utilisateur publie plusieurs avis, liés à une commande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commande porte sur un menu et un utilisateur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menu appartient à un thème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et plat : relation plusieurs à plusieurs (menu_plat)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commande référence un plat principal, une entrée et un dessert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309360" y="128016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D2E"/>
                </a:solidFill>
              </a:rPr>
              <a:t>Champs notables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309360" y="1828800"/>
            <a:ext cx="5394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 : statut, numéro, dates, nombre de personnes, prix de livraison, heure de livraison, matériel prêté ou restitué, motif d’annulation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: titre, nombre de personnes minimum, prix par personne, régime, quantité restante, actif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: e-mail, rôles, mot de passe haché, e-mail vérifié, compte actif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reset_password_request : jeton haché avec expiration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D5F55"/>
                </a:solidFill>
              </a:rPr>
              <a:t>cf. annexes, fig. 4a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Relations entre les entités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D5F55"/>
                </a:solidFill>
              </a:rPr>
              <a:t>17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286000" cy="1097280"/>
          </a:xfrm>
          <a:prstGeom prst="roundRect">
            <a:avLst>
              <a:gd name="adj" fmla="val 6667"/>
            </a:avLst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 txBox="1"/>
          <p:nvPr/>
        </p:nvSpPr>
        <p:spPr>
          <a:xfrm>
            <a:off x="594360" y="13716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5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e-mail, rôles, mot de passe haché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474720" y="1371600"/>
            <a:ext cx="2286000" cy="1097280"/>
          </a:xfrm>
          <a:prstGeom prst="roundRect">
            <a:avLst>
              <a:gd name="adj" fmla="val 6667"/>
            </a:avLst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 txBox="1"/>
          <p:nvPr/>
        </p:nvSpPr>
        <p:spPr>
          <a:xfrm>
            <a:off x="3520440" y="13716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</a:t>
            </a:r>
            <a:endParaRPr lang="en-US" sz="15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statut, dates, nb personnes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0" y="1371600"/>
            <a:ext cx="2286000" cy="1097280"/>
          </a:xfrm>
          <a:prstGeom prst="roundRect">
            <a:avLst>
              <a:gd name="adj" fmla="val 6667"/>
            </a:avLst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 txBox="1"/>
          <p:nvPr/>
        </p:nvSpPr>
        <p:spPr>
          <a:xfrm>
            <a:off x="6446520" y="13716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</a:t>
            </a:r>
            <a:endParaRPr lang="en-US" sz="15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titre, prix par personne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9326880" y="1371600"/>
            <a:ext cx="2286000" cy="1097280"/>
          </a:xfrm>
          <a:prstGeom prst="roundRect">
            <a:avLst>
              <a:gd name="adj" fmla="val 6667"/>
            </a:avLst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 txBox="1"/>
          <p:nvPr/>
        </p:nvSpPr>
        <p:spPr>
          <a:xfrm>
            <a:off x="9372600" y="13716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</a:t>
            </a:r>
            <a:endParaRPr lang="en-US" sz="15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titre, type, allergène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383280"/>
            <a:ext cx="2286000" cy="1097280"/>
          </a:xfrm>
          <a:prstGeom prst="roundRect">
            <a:avLst>
              <a:gd name="adj" fmla="val 6667"/>
            </a:avLst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 txBox="1"/>
          <p:nvPr/>
        </p:nvSpPr>
        <p:spPr>
          <a:xfrm>
            <a:off x="594360" y="33832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15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message, lu ou non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474720" y="3383280"/>
            <a:ext cx="2286000" cy="1097280"/>
          </a:xfrm>
          <a:prstGeom prst="roundRect">
            <a:avLst>
              <a:gd name="adj" fmla="val 6667"/>
            </a:avLst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 txBox="1"/>
          <p:nvPr/>
        </p:nvSpPr>
        <p:spPr>
          <a:xfrm>
            <a:off x="3520440" y="33832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</a:t>
            </a:r>
            <a:endParaRPr lang="en-US" sz="15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note, commentaire, approuvé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0" y="3383280"/>
            <a:ext cx="2286000" cy="1097280"/>
          </a:xfrm>
          <a:prstGeom prst="roundRect">
            <a:avLst>
              <a:gd name="adj" fmla="val 6667"/>
            </a:avLst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 txBox="1"/>
          <p:nvPr/>
        </p:nvSpPr>
        <p:spPr>
          <a:xfrm>
            <a:off x="6446520" y="33832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</a:t>
            </a:r>
            <a:endParaRPr lang="en-US" sz="15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libellé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2834640" y="1920240"/>
            <a:ext cx="640080" cy="0"/>
          </a:xfrm>
          <a:prstGeom prst="line">
            <a:avLst/>
          </a:prstGeom>
          <a:noFill/>
          <a:ln w="28575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 txBox="1"/>
          <p:nvPr/>
        </p:nvSpPr>
        <p:spPr>
          <a:xfrm>
            <a:off x="2514600" y="16459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D5F55"/>
                </a:solidFill>
              </a:rPr>
              <a:t>1 à 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760720" y="1920240"/>
            <a:ext cx="640080" cy="0"/>
          </a:xfrm>
          <a:prstGeom prst="line">
            <a:avLst/>
          </a:prstGeom>
          <a:noFill/>
          <a:ln w="28575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 txBox="1"/>
          <p:nvPr/>
        </p:nvSpPr>
        <p:spPr>
          <a:xfrm>
            <a:off x="5440680" y="16459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D5F55"/>
                </a:solidFill>
              </a:rPr>
              <a:t>N à 1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686800" y="1920240"/>
            <a:ext cx="640080" cy="0"/>
          </a:xfrm>
          <a:prstGeom prst="line">
            <a:avLst/>
          </a:prstGeom>
          <a:noFill/>
          <a:ln w="28575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 txBox="1"/>
          <p:nvPr/>
        </p:nvSpPr>
        <p:spPr>
          <a:xfrm>
            <a:off x="8366760" y="16459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D5F55"/>
                </a:solidFill>
              </a:rPr>
              <a:t>N à 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691640" y="2468880"/>
            <a:ext cx="0" cy="914400"/>
          </a:xfrm>
          <a:prstGeom prst="line">
            <a:avLst/>
          </a:prstGeom>
          <a:noFill/>
          <a:ln w="28575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 txBox="1"/>
          <p:nvPr/>
        </p:nvSpPr>
        <p:spPr>
          <a:xfrm>
            <a:off x="1051560" y="26974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D5F55"/>
                </a:solidFill>
              </a:rPr>
              <a:t>1 à 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17720" y="2468880"/>
            <a:ext cx="0" cy="914400"/>
          </a:xfrm>
          <a:prstGeom prst="line">
            <a:avLst/>
          </a:prstGeom>
          <a:noFill/>
          <a:ln w="28575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 txBox="1"/>
          <p:nvPr/>
        </p:nvSpPr>
        <p:spPr>
          <a:xfrm>
            <a:off x="3977640" y="26974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D5F55"/>
                </a:solidFill>
              </a:rPr>
              <a:t>1 à 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543800" y="2468880"/>
            <a:ext cx="0" cy="914400"/>
          </a:xfrm>
          <a:prstGeom prst="line">
            <a:avLst/>
          </a:prstGeom>
          <a:noFill/>
          <a:ln w="28575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 txBox="1"/>
          <p:nvPr/>
        </p:nvSpPr>
        <p:spPr>
          <a:xfrm>
            <a:off x="6903720" y="26974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D5F55"/>
                </a:solidFill>
              </a:rPr>
              <a:t>N à 1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50292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A24"/>
                </a:solidFill>
              </a:rPr>
              <a:t>Un avis est aussi lié à son auteur (user). La table menu_plat porte la relation entre menus et plats.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D5F55"/>
                </a:solidFill>
              </a:rPr>
              <a:t>cf. annexes, fig. 4a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de production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D5F55"/>
                </a:solidFill>
              </a:rPr>
              <a:t>18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265176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E8EEE9"/>
          </a:solidFill>
          <a:ln w="12700">
            <a:solidFill>
              <a:srgbClr val="E8EEE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 txBox="1"/>
          <p:nvPr/>
        </p:nvSpPr>
        <p:spPr>
          <a:xfrm>
            <a:off x="594360" y="265176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Navigateur</a:t>
            </a:r>
            <a:endParaRPr lang="en-US" sz="15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466344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E8EEE9"/>
          </a:solidFill>
          <a:ln w="12700">
            <a:solidFill>
              <a:srgbClr val="E8EEE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 txBox="1"/>
          <p:nvPr/>
        </p:nvSpPr>
        <p:spPr>
          <a:xfrm>
            <a:off x="594360" y="466344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5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 develop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383280" y="1280160"/>
            <a:ext cx="4754880" cy="4480560"/>
          </a:xfrm>
          <a:prstGeom prst="roundRect">
            <a:avLst>
              <a:gd name="adj" fmla="val 2041"/>
            </a:avLst>
          </a:prstGeom>
          <a:solidFill>
            <a:srgbClr val="F2F5F1"/>
          </a:solidFill>
          <a:ln w="19050">
            <a:solidFill>
              <a:srgbClr val="0B3D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 txBox="1"/>
          <p:nvPr/>
        </p:nvSpPr>
        <p:spPr>
          <a:xfrm>
            <a:off x="3566160" y="1371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2E"/>
                </a:solidFill>
              </a:rPr>
              <a:t>Heroku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749040" y="2011680"/>
            <a:ext cx="4023360" cy="1097280"/>
          </a:xfrm>
          <a:prstGeom prst="roundRect">
            <a:avLst>
              <a:gd name="adj" fmla="val 6667"/>
            </a:avLst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 txBox="1"/>
          <p:nvPr/>
        </p:nvSpPr>
        <p:spPr>
          <a:xfrm>
            <a:off x="3794760" y="201168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</a:t>
            </a:r>
            <a:endParaRPr lang="en-US" sz="15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heroku-php-apache2 public/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749040" y="3383280"/>
            <a:ext cx="4023360" cy="1737360"/>
          </a:xfrm>
          <a:prstGeom prst="roundRect">
            <a:avLst>
              <a:gd name="adj" fmla="val 4211"/>
            </a:avLst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 txBox="1"/>
          <p:nvPr/>
        </p:nvSpPr>
        <p:spPr>
          <a:xfrm>
            <a:off x="3794760" y="3383280"/>
            <a:ext cx="3931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Symfony 8 / PHP 8.5</a:t>
            </a:r>
            <a:endParaRPr lang="en-US" sz="15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Doctrine ORM et ODM, Security, EasyAdmin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144000" y="1371600"/>
            <a:ext cx="2468880" cy="1005840"/>
          </a:xfrm>
          <a:prstGeom prst="roundRect">
            <a:avLst>
              <a:gd name="adj" fmla="val 7273"/>
            </a:avLst>
          </a:prstGeom>
          <a:solidFill>
            <a:srgbClr val="E8EEE9"/>
          </a:solidFill>
          <a:ln w="12700">
            <a:solidFill>
              <a:srgbClr val="E8EEE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 txBox="1"/>
          <p:nvPr/>
        </p:nvSpPr>
        <p:spPr>
          <a:xfrm>
            <a:off x="9189720" y="13716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JawsDB</a:t>
            </a:r>
            <a:endParaRPr lang="en-US" sz="15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: données métier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9144000" y="2834640"/>
            <a:ext cx="2468880" cy="1005840"/>
          </a:xfrm>
          <a:prstGeom prst="roundRect">
            <a:avLst>
              <a:gd name="adj" fmla="val 7273"/>
            </a:avLst>
          </a:prstGeom>
          <a:solidFill>
            <a:srgbClr val="E8EEE9"/>
          </a:solidFill>
          <a:ln w="12700">
            <a:solidFill>
              <a:srgbClr val="E8EEE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 txBox="1"/>
          <p:nvPr/>
        </p:nvSpPr>
        <p:spPr>
          <a:xfrm>
            <a:off x="9189720" y="283464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</a:t>
            </a:r>
            <a:endParaRPr lang="en-US" sz="15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activité et statistiques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144000" y="4297680"/>
            <a:ext cx="2468880" cy="1005840"/>
          </a:xfrm>
          <a:prstGeom prst="roundRect">
            <a:avLst>
              <a:gd name="adj" fmla="val 7273"/>
            </a:avLst>
          </a:prstGeom>
          <a:solidFill>
            <a:srgbClr val="E8EEE9"/>
          </a:solidFill>
          <a:ln w="12700">
            <a:solidFill>
              <a:srgbClr val="E8EEE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 txBox="1"/>
          <p:nvPr/>
        </p:nvSpPr>
        <p:spPr>
          <a:xfrm>
            <a:off x="9189720" y="429768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Brevo</a:t>
            </a:r>
            <a:endParaRPr lang="en-US" sz="15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envoi des e-mails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2560320" y="3154680"/>
            <a:ext cx="822960" cy="0"/>
          </a:xfrm>
          <a:prstGeom prst="line">
            <a:avLst/>
          </a:prstGeom>
          <a:noFill/>
          <a:ln w="28575">
            <a:solidFill>
              <a:srgbClr val="B8860B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 txBox="1"/>
          <p:nvPr/>
        </p:nvSpPr>
        <p:spPr>
          <a:xfrm>
            <a:off x="2331720" y="2880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D5F55"/>
                </a:solidFill>
              </a:rPr>
              <a:t>HTTPS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560320" y="5166360"/>
            <a:ext cx="822960" cy="0"/>
          </a:xfrm>
          <a:prstGeom prst="line">
            <a:avLst/>
          </a:prstGeom>
          <a:noFill/>
          <a:ln w="28575">
            <a:solidFill>
              <a:srgbClr val="B8860B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 txBox="1"/>
          <p:nvPr/>
        </p:nvSpPr>
        <p:spPr>
          <a:xfrm>
            <a:off x="2331720" y="48920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D5F55"/>
                </a:solidFill>
              </a:rPr>
              <a:t>git push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138160" y="1874520"/>
            <a:ext cx="1005840" cy="0"/>
          </a:xfrm>
          <a:prstGeom prst="line">
            <a:avLst/>
          </a:prstGeom>
          <a:noFill/>
          <a:ln w="28575">
            <a:solidFill>
              <a:srgbClr val="B8860B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 txBox="1"/>
          <p:nvPr/>
        </p:nvSpPr>
        <p:spPr>
          <a:xfrm>
            <a:off x="8001000" y="16002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D5F55"/>
                </a:solidFill>
              </a:rPr>
              <a:t>DATABASE_URL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138160" y="3337560"/>
            <a:ext cx="1005840" cy="0"/>
          </a:xfrm>
          <a:prstGeom prst="line">
            <a:avLst/>
          </a:prstGeom>
          <a:noFill/>
          <a:ln w="28575">
            <a:solidFill>
              <a:srgbClr val="B8860B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 txBox="1"/>
          <p:nvPr/>
        </p:nvSpPr>
        <p:spPr>
          <a:xfrm>
            <a:off x="8001000" y="3063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D5F55"/>
                </a:solidFill>
              </a:rPr>
              <a:t>MONGODB_URI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138160" y="4800600"/>
            <a:ext cx="1005840" cy="0"/>
          </a:xfrm>
          <a:prstGeom prst="line">
            <a:avLst/>
          </a:prstGeom>
          <a:noFill/>
          <a:ln w="28575">
            <a:solidFill>
              <a:srgbClr val="B8860B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 txBox="1"/>
          <p:nvPr/>
        </p:nvSpPr>
        <p:spPr>
          <a:xfrm>
            <a:off x="8001000" y="45262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D5F55"/>
                </a:solidFill>
              </a:rPr>
              <a:t>MAILER_DSN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et composants métier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D5F55"/>
                </a:solidFill>
              </a:rPr>
              <a:t>19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594610" cy="1737360"/>
          </a:xfrm>
          <a:prstGeom prst="rect">
            <a:avLst/>
          </a:prstGeom>
          <a:solidFill>
            <a:srgbClr val="E8EEE9"/>
          </a:solidFill>
          <a:ln w="12700">
            <a:solidFill>
              <a:srgbClr val="E8EEE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 txBox="1"/>
          <p:nvPr/>
        </p:nvSpPr>
        <p:spPr>
          <a:xfrm>
            <a:off x="731520" y="1600200"/>
            <a:ext cx="22288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2E"/>
                </a:solidFill>
              </a:rPr>
              <a:t>Entité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03120"/>
            <a:ext cx="222885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24"/>
                </a:solidFill>
              </a:rPr>
              <a:t>Une table, ses attributs et relations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71850" y="1463040"/>
            <a:ext cx="2594610" cy="1737360"/>
          </a:xfrm>
          <a:prstGeom prst="rect">
            <a:avLst/>
          </a:prstGeom>
          <a:solidFill>
            <a:srgbClr val="E8EEE9"/>
          </a:solidFill>
          <a:ln w="12700">
            <a:solidFill>
              <a:srgbClr val="E8EEE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 txBox="1"/>
          <p:nvPr/>
        </p:nvSpPr>
        <p:spPr>
          <a:xfrm>
            <a:off x="3554730" y="1600200"/>
            <a:ext cx="22288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2E"/>
                </a:solidFill>
              </a:rPr>
              <a:t>Repository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554730" y="2103120"/>
            <a:ext cx="222885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24"/>
                </a:solidFill>
              </a:rPr>
              <a:t>Requêtes Doctrine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95060" y="1463040"/>
            <a:ext cx="2594610" cy="1737360"/>
          </a:xfrm>
          <a:prstGeom prst="rect">
            <a:avLst/>
          </a:prstGeom>
          <a:solidFill>
            <a:srgbClr val="E8EEE9"/>
          </a:solidFill>
          <a:ln w="12700">
            <a:solidFill>
              <a:srgbClr val="E8EEE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 txBox="1"/>
          <p:nvPr/>
        </p:nvSpPr>
        <p:spPr>
          <a:xfrm>
            <a:off x="6377940" y="1600200"/>
            <a:ext cx="22288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2E"/>
                </a:solidFill>
              </a:rPr>
              <a:t>Contrôleur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377940" y="2103120"/>
            <a:ext cx="222885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24"/>
                </a:solidFill>
              </a:rPr>
              <a:t>Reçoit la requête, appelle le repository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018270" y="1463040"/>
            <a:ext cx="2594610" cy="1737360"/>
          </a:xfrm>
          <a:prstGeom prst="rect">
            <a:avLst/>
          </a:prstGeom>
          <a:solidFill>
            <a:srgbClr val="E8EEE9"/>
          </a:solidFill>
          <a:ln w="12700">
            <a:solidFill>
              <a:srgbClr val="E8EEE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 txBox="1"/>
          <p:nvPr/>
        </p:nvSpPr>
        <p:spPr>
          <a:xfrm>
            <a:off x="9201150" y="1600200"/>
            <a:ext cx="22288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2E"/>
                </a:solidFill>
              </a:rPr>
              <a:t>Vue Twig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9201150" y="2103120"/>
            <a:ext cx="222885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24"/>
                </a:solidFill>
              </a:rPr>
              <a:t>Affiche la page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657600"/>
            <a:ext cx="10972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complet testé : créer, afficher, modifier, supprimer</a:t>
            </a:r>
            <a:endParaRPr lang="en-US" sz="18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Formulaires Symfony avec validation des saisies</a:t>
            </a:r>
            <a:endParaRPr lang="en-US" sz="18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Règles métier : gestion des commandes, contrôle des données</a:t>
            </a:r>
            <a:endParaRPr lang="en-US" sz="18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technique rédigée pour le déploiement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Cheminement d’une requête (MVC)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D5F55"/>
                </a:solidFill>
              </a:rPr>
              <a:t>20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 txBox="1"/>
          <p:nvPr/>
        </p:nvSpPr>
        <p:spPr>
          <a:xfrm>
            <a:off x="594360" y="146304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Requête</a:t>
            </a:r>
            <a:endParaRPr lang="en-US" sz="15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/menu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468880" y="2057400"/>
            <a:ext cx="365760" cy="0"/>
          </a:xfrm>
          <a:prstGeom prst="line">
            <a:avLst/>
          </a:prstGeom>
          <a:noFill/>
          <a:ln w="28575">
            <a:solidFill>
              <a:srgbClr val="B8860B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2834640" y="146304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 txBox="1"/>
          <p:nvPr/>
        </p:nvSpPr>
        <p:spPr>
          <a:xfrm>
            <a:off x="2880360" y="146304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Routeur</a:t>
            </a:r>
            <a:endParaRPr lang="en-US" sz="15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 #[Route]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754880" y="2057400"/>
            <a:ext cx="365760" cy="0"/>
          </a:xfrm>
          <a:prstGeom prst="line">
            <a:avLst/>
          </a:prstGeom>
          <a:noFill/>
          <a:ln w="28575">
            <a:solidFill>
              <a:srgbClr val="B8860B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5120640" y="146304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 txBox="1"/>
          <p:nvPr/>
        </p:nvSpPr>
        <p:spPr>
          <a:xfrm>
            <a:off x="5166360" y="146304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Contrôleur</a:t>
            </a:r>
            <a:endParaRPr lang="en-US" sz="15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MenuController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040880" y="2057400"/>
            <a:ext cx="365760" cy="0"/>
          </a:xfrm>
          <a:prstGeom prst="line">
            <a:avLst/>
          </a:prstGeom>
          <a:noFill/>
          <a:ln w="28575">
            <a:solidFill>
              <a:srgbClr val="B8860B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7406640" y="146304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 txBox="1"/>
          <p:nvPr/>
        </p:nvSpPr>
        <p:spPr>
          <a:xfrm>
            <a:off x="7452360" y="146304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5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findByFilters()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326880" y="2057400"/>
            <a:ext cx="365760" cy="0"/>
          </a:xfrm>
          <a:prstGeom prst="line">
            <a:avLst/>
          </a:prstGeom>
          <a:noFill/>
          <a:ln w="28575">
            <a:solidFill>
              <a:srgbClr val="B8860B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9692640" y="146304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 txBox="1"/>
          <p:nvPr/>
        </p:nvSpPr>
        <p:spPr>
          <a:xfrm>
            <a:off x="9738360" y="146304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5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Doctrine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120640" y="384048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 txBox="1"/>
          <p:nvPr/>
        </p:nvSpPr>
        <p:spPr>
          <a:xfrm>
            <a:off x="5166360" y="384048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Twig</a:t>
            </a:r>
            <a:endParaRPr lang="en-US" sz="15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menu/index.html.twig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384048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E8EEE9"/>
          </a:solidFill>
          <a:ln w="12700">
            <a:solidFill>
              <a:srgbClr val="E8EEE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 txBox="1"/>
          <p:nvPr/>
        </p:nvSpPr>
        <p:spPr>
          <a:xfrm>
            <a:off x="594360" y="384048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</a:t>
            </a:r>
            <a:endParaRPr lang="en-US" sz="15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HTML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080760" y="2651760"/>
            <a:ext cx="0" cy="1188720"/>
          </a:xfrm>
          <a:prstGeom prst="line">
            <a:avLst/>
          </a:prstGeom>
          <a:noFill/>
          <a:ln w="28575">
            <a:solidFill>
              <a:srgbClr val="B8860B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 flipH="1">
            <a:off x="2468880" y="4434840"/>
            <a:ext cx="2651760" cy="0"/>
          </a:xfrm>
          <a:prstGeom prst="line">
            <a:avLst/>
          </a:prstGeom>
          <a:noFill/>
          <a:ln w="28575">
            <a:solidFill>
              <a:srgbClr val="B8860B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 txBox="1"/>
          <p:nvPr/>
        </p:nvSpPr>
        <p:spPr>
          <a:xfrm>
            <a:off x="3154680" y="4160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D5F55"/>
                </a:solidFill>
              </a:rPr>
              <a:t>HTML rendu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7406640" y="384048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A24"/>
                </a:solidFill>
              </a:rPr>
              <a:t>Le contrôleur interroge le repository, reçoit les entités et les transmet à Twig, qui produit la page.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Parcours d’une commande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D5F55"/>
                </a:solidFill>
              </a:rPr>
              <a:t>21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029968" cy="2468880"/>
          </a:xfrm>
          <a:prstGeom prst="rect">
            <a:avLst/>
          </a:prstGeom>
          <a:solidFill>
            <a:srgbClr val="E8EEE9"/>
          </a:solidFill>
          <a:ln w="12700">
            <a:solidFill>
              <a:srgbClr val="E8EEE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 txBox="1"/>
          <p:nvPr/>
        </p:nvSpPr>
        <p:spPr>
          <a:xfrm>
            <a:off x="731520" y="150876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2E"/>
                </a:solidFill>
              </a:rPr>
              <a:t>1. Choisir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011680"/>
            <a:ext cx="166420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24"/>
                </a:solidFill>
              </a:rPr>
              <a:t>Menu, nombre de personnes minimum, prix par personne, quantité restante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807208" y="1371600"/>
            <a:ext cx="2029968" cy="2468880"/>
          </a:xfrm>
          <a:prstGeom prst="rect">
            <a:avLst/>
          </a:prstGeom>
          <a:solidFill>
            <a:srgbClr val="E8EEE9"/>
          </a:solidFill>
          <a:ln w="12700">
            <a:solidFill>
              <a:srgbClr val="E8EEE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 txBox="1"/>
          <p:nvPr/>
        </p:nvSpPr>
        <p:spPr>
          <a:xfrm>
            <a:off x="2990088" y="150876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2E"/>
                </a:solidFill>
              </a:rPr>
              <a:t>2. Se connecter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990088" y="2011680"/>
            <a:ext cx="166420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24"/>
                </a:solidFill>
              </a:rPr>
              <a:t>Commande réservée aux clients connectés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65776" y="1371600"/>
            <a:ext cx="2029968" cy="2468880"/>
          </a:xfrm>
          <a:prstGeom prst="rect">
            <a:avLst/>
          </a:prstGeom>
          <a:solidFill>
            <a:srgbClr val="E8EEE9"/>
          </a:solidFill>
          <a:ln w="12700">
            <a:solidFill>
              <a:srgbClr val="E8EEE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 txBox="1"/>
          <p:nvPr/>
        </p:nvSpPr>
        <p:spPr>
          <a:xfrm>
            <a:off x="5248656" y="150876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2E"/>
                </a:solidFill>
              </a:rPr>
              <a:t>3. Commander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248656" y="2011680"/>
            <a:ext cx="166420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24"/>
                </a:solidFill>
              </a:rPr>
              <a:t>Date de prestation, heure de livraison, nombre de personnes, plat principal, entrée, dessert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24344" y="1371600"/>
            <a:ext cx="2029968" cy="2468880"/>
          </a:xfrm>
          <a:prstGeom prst="rect">
            <a:avLst/>
          </a:prstGeom>
          <a:solidFill>
            <a:srgbClr val="E8EEE9"/>
          </a:solidFill>
          <a:ln w="12700">
            <a:solidFill>
              <a:srgbClr val="E8EEE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 txBox="1"/>
          <p:nvPr/>
        </p:nvSpPr>
        <p:spPr>
          <a:xfrm>
            <a:off x="7507224" y="150876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2E"/>
                </a:solidFill>
              </a:rPr>
              <a:t>4. Suivi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507224" y="2011680"/>
            <a:ext cx="166420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24"/>
                </a:solidFill>
              </a:rPr>
              <a:t>Statut de la commande et notifications au client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582912" y="1371600"/>
            <a:ext cx="2029968" cy="2468880"/>
          </a:xfrm>
          <a:prstGeom prst="rect">
            <a:avLst/>
          </a:prstGeom>
          <a:solidFill>
            <a:srgbClr val="E8EEE9"/>
          </a:solidFill>
          <a:ln w="12700">
            <a:solidFill>
              <a:srgbClr val="E8EEE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 txBox="1"/>
          <p:nvPr/>
        </p:nvSpPr>
        <p:spPr>
          <a:xfrm>
            <a:off x="9765792" y="150876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2E"/>
                </a:solidFill>
              </a:rPr>
              <a:t>5. Modifier ou annuler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9765792" y="2011680"/>
            <a:ext cx="166420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24"/>
                </a:solidFill>
              </a:rPr>
              <a:t>Mode de contact et motif d’annulation enregistrés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206240"/>
            <a:ext cx="10972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prix de livraison et le matériel prêté ou restitué sont suivis dans la commande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employé peut modifier ou annuler à la demande du client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avis peut être rattaché à une commande, et modéré avant publication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D5F55"/>
                </a:solidFill>
              </a:rPr>
              <a:t>cf. annexes, fig. 3b, 3f et 4a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Extrait : contrôleur de la page d’accueil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D5F55"/>
                </a:solidFill>
              </a:rPr>
              <a:t>22</a:t>
            </a:r>
            <a:endParaRPr lang="en-US" sz="1000" dirty="0"/>
          </a:p>
        </p:txBody>
      </p:sp>
      <p:pic>
        <p:nvPicPr>
          <p:cNvPr id="4" name="Image 0" descr="im/ctr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01" y="1188720"/>
            <a:ext cx="3880759" cy="51206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669280" y="1554480"/>
            <a:ext cx="60350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des repositories AvisRepository et HoraireRepository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 filtrés sur isApproved, du plus récent au plus ancien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seul avis affiché par utilisateur, limite de 1000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Horaires lus en base et transmis à Twig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Rendu de accueil/index.html.twig avec avis, utilisateur et horaires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D5F55"/>
                </a:solidFill>
              </a:rPr>
              <a:t>cf. annexes activité 2, fig. 3a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Extrait : filtres du catalogue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D5F55"/>
                </a:solidFill>
              </a:rPr>
              <a:t>23</a:t>
            </a:r>
            <a:endParaRPr lang="en-US" sz="1000" dirty="0"/>
          </a:p>
        </p:txBody>
      </p:sp>
      <p:pic>
        <p:nvPicPr>
          <p:cNvPr id="4" name="Image 0" descr="im/rep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6528" y="1188720"/>
            <a:ext cx="4779264" cy="51206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949440" y="1645920"/>
            <a:ext cx="47548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findByFilters() dans MenuRepository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QueryBuilder avec jointures thème et plats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Filtres : régime, thème, type, tri par prix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Paramètres liés : protection contre l’injection SQL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D5F55"/>
                </a:solidFill>
              </a:rPr>
              <a:t>cf. annexes activité 2, fig. 3c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Extrait : inscription sécurisée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D5F55"/>
                </a:solidFill>
              </a:rPr>
              <a:t>24</a:t>
            </a:r>
            <a:endParaRPr lang="en-US" sz="1000" dirty="0"/>
          </a:p>
        </p:txBody>
      </p:sp>
      <p:pic>
        <p:nvPicPr>
          <p:cNvPr id="4" name="Image 0" descr="im/insc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4336" y="1188720"/>
            <a:ext cx="4437888" cy="51206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583680" y="1645920"/>
            <a:ext cx="512064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Champs : nom, prénom, e-mail, téléphone, mot de passe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Contraintes : 6 caractères minimum, conditions acceptées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 de passe haché avant enregistrement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ROLE_USER attribué, e-mail de confirmation envoyé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Suppression de compte protégée par jeton CSRF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D5F55"/>
                </a:solidFill>
              </a:rPr>
              <a:t>cf. annexes activité 2, fig. 3g, 3h, 3i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Espace administrateur (EasyAdmin)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D5F55"/>
                </a:solidFill>
              </a:rPr>
              <a:t>25</a:t>
            </a:r>
            <a:endParaRPr lang="en-US" sz="1000" dirty="0"/>
          </a:p>
        </p:txBody>
      </p:sp>
      <p:pic>
        <p:nvPicPr>
          <p:cNvPr id="4" name="Image 0" descr="im/ad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854" y="1188720"/>
            <a:ext cx="4725732" cy="51206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766560" y="1645920"/>
            <a:ext cx="493776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make:admin:dashboard puis make:admin:crud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CRUD par entité : menus, utilisateurs, commandes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 prises en compte dans les formulaires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 : compteurs et graphique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D5F55"/>
                </a:solidFill>
              </a:rPr>
              <a:t>cf. annexes activité 2, fig. 3k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Déploiement sur Heroku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D5F55"/>
                </a:solidFill>
              </a:rPr>
              <a:t>26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029968" cy="2011680"/>
          </a:xfrm>
          <a:prstGeom prst="rect">
            <a:avLst/>
          </a:prstGeom>
          <a:solidFill>
            <a:srgbClr val="E8EEE9"/>
          </a:solidFill>
          <a:ln w="12700">
            <a:solidFill>
              <a:srgbClr val="E8EEE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 txBox="1"/>
          <p:nvPr/>
        </p:nvSpPr>
        <p:spPr>
          <a:xfrm>
            <a:off x="731520" y="160020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2E"/>
                </a:solidFill>
              </a:rPr>
              <a:t>GitHub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03120"/>
            <a:ext cx="16642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24"/>
                </a:solidFill>
              </a:rPr>
              <a:t>Dépôt origin, historique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807208" y="1463040"/>
            <a:ext cx="2029968" cy="2011680"/>
          </a:xfrm>
          <a:prstGeom prst="rect">
            <a:avLst/>
          </a:prstGeom>
          <a:solidFill>
            <a:srgbClr val="E8EEE9"/>
          </a:solidFill>
          <a:ln w="12700">
            <a:solidFill>
              <a:srgbClr val="E8EEE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 txBox="1"/>
          <p:nvPr/>
        </p:nvSpPr>
        <p:spPr>
          <a:xfrm>
            <a:off x="2990088" y="160020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2E"/>
                </a:solidFill>
              </a:rPr>
              <a:t>Heroku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990088" y="2103120"/>
            <a:ext cx="16642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24"/>
                </a:solidFill>
              </a:rPr>
              <a:t>git push heroku develop:main, Procfile vers public/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65776" y="1463040"/>
            <a:ext cx="2029968" cy="2011680"/>
          </a:xfrm>
          <a:prstGeom prst="rect">
            <a:avLst/>
          </a:prstGeom>
          <a:solidFill>
            <a:srgbClr val="E8EEE9"/>
          </a:solidFill>
          <a:ln w="12700">
            <a:solidFill>
              <a:srgbClr val="E8EEE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 txBox="1"/>
          <p:nvPr/>
        </p:nvSpPr>
        <p:spPr>
          <a:xfrm>
            <a:off x="5248656" y="160020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2E"/>
                </a:solidFill>
              </a:rPr>
              <a:t>JawsDB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248656" y="2103120"/>
            <a:ext cx="16642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24"/>
                </a:solidFill>
              </a:rPr>
              <a:t>MySQL de production (DATABASE_URL)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24344" y="1463040"/>
            <a:ext cx="2029968" cy="2011680"/>
          </a:xfrm>
          <a:prstGeom prst="rect">
            <a:avLst/>
          </a:prstGeom>
          <a:solidFill>
            <a:srgbClr val="E8EEE9"/>
          </a:solidFill>
          <a:ln w="12700">
            <a:solidFill>
              <a:srgbClr val="E8EEE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 txBox="1"/>
          <p:nvPr/>
        </p:nvSpPr>
        <p:spPr>
          <a:xfrm>
            <a:off x="7507224" y="160020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2E"/>
                </a:solidFill>
              </a:rPr>
              <a:t>MongoDB Atlas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507224" y="2103120"/>
            <a:ext cx="16642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24"/>
                </a:solidFill>
              </a:rPr>
              <a:t>MONGODB_URI, MONGODB_DB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582912" y="1463040"/>
            <a:ext cx="2029968" cy="2011680"/>
          </a:xfrm>
          <a:prstGeom prst="rect">
            <a:avLst/>
          </a:prstGeom>
          <a:solidFill>
            <a:srgbClr val="E8EEE9"/>
          </a:solidFill>
          <a:ln w="12700">
            <a:solidFill>
              <a:srgbClr val="E8EEE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 txBox="1"/>
          <p:nvPr/>
        </p:nvSpPr>
        <p:spPr>
          <a:xfrm>
            <a:off x="9765792" y="160020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2E"/>
                </a:solidFill>
              </a:rPr>
              <a:t>Config Vars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9765792" y="2103120"/>
            <a:ext cx="16642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24"/>
                </a:solidFill>
              </a:rPr>
              <a:t>APP_ENV, APP_SECRET, MAILER_DSN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931920"/>
            <a:ext cx="10972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Migrations Doctrine appliquées en production, index MongoDB mis à jour</a:t>
            </a:r>
            <a:endParaRPr lang="en-US" sz="18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E-mails via Brevo (Symfony Mailer)</a:t>
            </a:r>
            <a:endParaRPr lang="en-US" sz="18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en production : pages, commandes, administration, e-mails</a:t>
            </a:r>
            <a:endParaRPr lang="en-US" sz="18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Informations sensibles hors du code source</a:t>
            </a:r>
            <a:endParaRPr lang="en-US" sz="1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Cycle de déploiement et vérifications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D5F55"/>
                </a:solidFill>
              </a:rPr>
              <a:t>27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011680" cy="731520"/>
          </a:xfrm>
          <a:prstGeom prst="rect">
            <a:avLst/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Code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807208" y="1371600"/>
            <a:ext cx="2011680" cy="731520"/>
          </a:xfrm>
          <a:prstGeom prst="rect">
            <a:avLst/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 txBox="1"/>
          <p:nvPr/>
        </p:nvSpPr>
        <p:spPr>
          <a:xfrm>
            <a:off x="2807208" y="13716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Test local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65776" y="1371600"/>
            <a:ext cx="2011680" cy="731520"/>
          </a:xfrm>
          <a:prstGeom prst="rect">
            <a:avLst/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 txBox="1"/>
          <p:nvPr/>
        </p:nvSpPr>
        <p:spPr>
          <a:xfrm>
            <a:off x="5065776" y="13716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Commit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24344" y="1371600"/>
            <a:ext cx="2011680" cy="731520"/>
          </a:xfrm>
          <a:prstGeom prst="rect">
            <a:avLst/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 txBox="1"/>
          <p:nvPr/>
        </p:nvSpPr>
        <p:spPr>
          <a:xfrm>
            <a:off x="7324344" y="13716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Push Heroku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582912" y="1371600"/>
            <a:ext cx="2011680" cy="73152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 txBox="1"/>
          <p:nvPr/>
        </p:nvSpPr>
        <p:spPr>
          <a:xfrm>
            <a:off x="9582912" y="13716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Vérification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24688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D2E"/>
                </a:solidFill>
              </a:rPr>
              <a:t>Vérifications après déploiement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017520"/>
            <a:ext cx="5486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accessible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 MySQL et données métier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 MongoDB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EasyAdmin et statistiques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et assets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246888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D2E"/>
                </a:solidFill>
              </a:rPr>
              <a:t>Commandes utiles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3017520"/>
            <a:ext cx="5212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A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heroku develop:main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F2A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heroku logs --tail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F2A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heroku config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F2A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heroku restart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484632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D5F55"/>
                </a:solidFill>
              </a:rPr>
              <a:t>Les valeurs de heroku config sont sensibles : ne jamais les publier.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Gestion de projet et versionnement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D5F55"/>
                </a:solidFill>
              </a:rPr>
              <a:t>28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594610" cy="2194560"/>
          </a:xfrm>
          <a:prstGeom prst="rect">
            <a:avLst/>
          </a:prstGeom>
          <a:solidFill>
            <a:srgbClr val="E8EEE9"/>
          </a:solidFill>
          <a:ln w="12700">
            <a:solidFill>
              <a:srgbClr val="E8EEE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 txBox="1"/>
          <p:nvPr/>
        </p:nvSpPr>
        <p:spPr>
          <a:xfrm>
            <a:off x="731520" y="1600200"/>
            <a:ext cx="22288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2E"/>
                </a:solidFill>
              </a:rPr>
              <a:t>Trello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03120"/>
            <a:ext cx="222885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24"/>
                </a:solidFill>
              </a:rPr>
              <a:t>Organisation des tâches et suivi de l’avancement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71850" y="1463040"/>
            <a:ext cx="2594610" cy="2194560"/>
          </a:xfrm>
          <a:prstGeom prst="rect">
            <a:avLst/>
          </a:prstGeom>
          <a:solidFill>
            <a:srgbClr val="E8EEE9"/>
          </a:solidFill>
          <a:ln w="12700">
            <a:solidFill>
              <a:srgbClr val="E8EEE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 txBox="1"/>
          <p:nvPr/>
        </p:nvSpPr>
        <p:spPr>
          <a:xfrm>
            <a:off x="3554730" y="1600200"/>
            <a:ext cx="22288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2E"/>
                </a:solidFill>
              </a:rPr>
              <a:t>Git : 3 niveaux de branches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554730" y="2103120"/>
            <a:ext cx="222885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24"/>
                </a:solidFill>
              </a:rPr>
              <a:t>main, develop, branches de fonctionnalités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95060" y="1463040"/>
            <a:ext cx="2594610" cy="2194560"/>
          </a:xfrm>
          <a:prstGeom prst="rect">
            <a:avLst/>
          </a:prstGeom>
          <a:solidFill>
            <a:srgbClr val="E8EEE9"/>
          </a:solidFill>
          <a:ln w="12700">
            <a:solidFill>
              <a:srgbClr val="E8EEE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 txBox="1"/>
          <p:nvPr/>
        </p:nvSpPr>
        <p:spPr>
          <a:xfrm>
            <a:off x="6377940" y="1600200"/>
            <a:ext cx="22288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2E"/>
                </a:solidFill>
              </a:rPr>
              <a:t>GitHub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377940" y="2103120"/>
            <a:ext cx="222885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24"/>
                </a:solidFill>
              </a:rPr>
              <a:t>Dépôt distant, historique, sauvegarde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018270" y="1463040"/>
            <a:ext cx="2594610" cy="2194560"/>
          </a:xfrm>
          <a:prstGeom prst="rect">
            <a:avLst/>
          </a:prstGeom>
          <a:solidFill>
            <a:srgbClr val="E8EEE9"/>
          </a:solidFill>
          <a:ln w="12700">
            <a:solidFill>
              <a:srgbClr val="E8EEE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 txBox="1"/>
          <p:nvPr/>
        </p:nvSpPr>
        <p:spPr>
          <a:xfrm>
            <a:off x="9201150" y="1600200"/>
            <a:ext cx="22288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2E"/>
                </a:solidFill>
              </a:rPr>
              <a:t>README.md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9201150" y="2103120"/>
            <a:ext cx="222885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24"/>
                </a:solidFill>
              </a:rPr>
              <a:t>Installation, variables d’environnement, base de données, lancement du serveur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114800"/>
            <a:ext cx="10972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fonctionnalité est développée sur sa branche, testée, puis fusionnée dans develop</a:t>
            </a:r>
            <a:endParaRPr lang="en-US" sz="18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README permet à un tiers d’installer le projet sans aide</a:t>
            </a:r>
            <a:endParaRPr lang="en-US" sz="1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Sécurité et veille technologique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D5F55"/>
                </a:solidFill>
              </a:rPr>
              <a:t>29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D2E"/>
                </a:solidFill>
              </a:rPr>
              <a:t>Mécanismes en place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5394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Symfony Security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Mots de passe hachés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Rôles : ROLE_USER, employé, ROLE_ADMIN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CSRF des formulaires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des données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administrateur protégées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dans les variables d’environnement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309360" y="128016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D2E"/>
                </a:solidFill>
              </a:rPr>
              <a:t>Veille OWASP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309360" y="1828800"/>
            <a:ext cx="5394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Vulnérabilités étudiées : injections SQL, XSS, CSRF, mauvaise gestion de l’authentification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Parades Symfony : Doctrine ORM, jeton CSRF, Symfony Security, hachage automatique</a:t>
            </a:r>
            <a:endParaRPr lang="en-US" sz="1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Traversée des protections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D5F55"/>
                </a:solidFill>
              </a:rPr>
              <a:t>30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920240" cy="1280160"/>
          </a:xfrm>
          <a:prstGeom prst="homePlate">
            <a:avLst/>
          </a:prstGeom>
          <a:solidFill>
            <a:srgbClr val="B8860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 txBox="1"/>
          <p:nvPr/>
        </p:nvSpPr>
        <p:spPr>
          <a:xfrm>
            <a:off x="640080" y="164592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Requête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entrante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404872" y="1645920"/>
            <a:ext cx="1920240" cy="1280160"/>
          </a:xfrm>
          <a:prstGeom prst="homePlate">
            <a:avLst/>
          </a:prstGeom>
          <a:solidFill>
            <a:srgbClr val="0B3D2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 txBox="1"/>
          <p:nvPr/>
        </p:nvSpPr>
        <p:spPr>
          <a:xfrm>
            <a:off x="2496312" y="164592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Authentification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Symfony Security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61104" y="1645920"/>
            <a:ext cx="1920240" cy="1280160"/>
          </a:xfrm>
          <a:prstGeom prst="homePlate">
            <a:avLst/>
          </a:prstGeom>
          <a:solidFill>
            <a:srgbClr val="0B3D2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 txBox="1"/>
          <p:nvPr/>
        </p:nvSpPr>
        <p:spPr>
          <a:xfrm>
            <a:off x="4352544" y="164592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Rôle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accès par route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17336" y="1645920"/>
            <a:ext cx="1920240" cy="1280160"/>
          </a:xfrm>
          <a:prstGeom prst="homePlate">
            <a:avLst/>
          </a:prstGeom>
          <a:solidFill>
            <a:srgbClr val="0B3D2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 txBox="1"/>
          <p:nvPr/>
        </p:nvSpPr>
        <p:spPr>
          <a:xfrm>
            <a:off x="6208776" y="164592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CSRF et validation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formulaires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973568" y="1645920"/>
            <a:ext cx="1920240" cy="1280160"/>
          </a:xfrm>
          <a:prstGeom prst="homePlate">
            <a:avLst/>
          </a:prstGeom>
          <a:solidFill>
            <a:srgbClr val="0B3D2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 txBox="1"/>
          <p:nvPr/>
        </p:nvSpPr>
        <p:spPr>
          <a:xfrm>
            <a:off x="8065008" y="164592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Doctrine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paramètres liés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829800" y="1645920"/>
            <a:ext cx="1920240" cy="1280160"/>
          </a:xfrm>
          <a:prstGeom prst="homePlate">
            <a:avLst/>
          </a:prstGeom>
          <a:solidFill>
            <a:srgbClr val="0B3D2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 txBox="1"/>
          <p:nvPr/>
        </p:nvSpPr>
        <p:spPr>
          <a:xfrm>
            <a:off x="9921240" y="164592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Twig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échappement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566160"/>
            <a:ext cx="10972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requête traverse plusieurs barrières avant d’atteindre les données</a:t>
            </a:r>
            <a:endParaRPr lang="en-US" sz="18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visiteur non connecté est arrêté à l’étape rôle sur les pages protégées</a:t>
            </a:r>
            <a:endParaRPr lang="en-US" sz="18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secrets (base de données, e-mail) restent hors du dépôt Git</a:t>
            </a:r>
            <a:endParaRPr lang="en-US" sz="1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Sécurité : menace, parade, emplacement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D5F55"/>
                </a:solidFill>
              </a:rPr>
              <a:t>31</a:t>
            </a:r>
            <a:endParaRPr lang="en-US" sz="10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234696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Menace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Parade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Où dans le projet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</a:rPr>
                        <a:t>Injection SQL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</a:rPr>
                        <a:t>Doctrine ORM, paramètres liés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</a:rPr>
                        <a:t>MenuRepository (setParameter)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</a:rPr>
                        <a:t>XSS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</a:rPr>
                        <a:t>Échappement automatique des variables Twig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</a:rPr>
                        <a:t>Templates Twig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</a:rPr>
                        <a:t>CSRF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</a:rPr>
                        <a:t>Jeton CSRF sur les formulaires et actions sensibles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</a:rPr>
                        <a:t>Suppression de compte, d’avis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</a:rPr>
                        <a:t>Authentification faible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</a:rPr>
                        <a:t>Symfony Security, mot de passe haché, mise à niveau du hachage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</a:rPr>
                        <a:t>RegistrationController, UserRepository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</a:rPr>
                        <a:t>Accès non autorisé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</a:rPr>
                        <a:t>Routes protégées par rôle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</a:rPr>
                        <a:t>Espaces admin et employé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</a:rPr>
                        <a:t>Fuite de secrets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</a:rPr>
                        <a:t>Variables d’environnement, Config Vars Heroku, fichiers sensibles hors Git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F2A24"/>
                          </a:solidFill>
                        </a:rPr>
                        <a:t>.env.local, Heroku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Recherche et difficultés rencontrées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D5F55"/>
                </a:solidFill>
              </a:rPr>
              <a:t>32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9728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 : après déploiement sur Heroku, des routes fonctionnaient en local mais renvoyaient des erreurs 404 ou 500</a:t>
            </a:r>
            <a:endParaRPr lang="en-US" sz="19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dans les documentations anglophones Symfony et Heroku</a:t>
            </a:r>
            <a:endParaRPr lang="en-US" sz="19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Causes : configuration Apache, différences de casse Linux et Windows, routes Symfony</a:t>
            </a:r>
            <a:endParaRPr lang="en-US" sz="19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Autres difficultés : AssetMapper, EasyAdmin (rôles admin et employé), configuration Heroku</a:t>
            </a:r>
            <a:endParaRPr lang="en-US" sz="19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Leçon : tester dans un environnement proche de la production</a:t>
            </a:r>
            <a:endParaRPr lang="en-US" sz="1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Manuel utilisateur : parcours client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D5F55"/>
                </a:solidFill>
              </a:rPr>
              <a:t>33</a:t>
            </a:r>
            <a:endParaRPr lang="en-US" sz="1000" dirty="0"/>
          </a:p>
        </p:txBody>
      </p:sp>
      <p:pic>
        <p:nvPicPr>
          <p:cNvPr id="4" name="Image 0" descr="im/m_accuei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936775"/>
            <a:ext cx="3611880" cy="207005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57200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D2E"/>
                </a:solidFill>
              </a:rPr>
              <a:t>Accueil</a:t>
            </a:r>
            <a:endParaRPr lang="en-US" sz="1400" dirty="0"/>
          </a:p>
        </p:txBody>
      </p:sp>
      <p:pic>
        <p:nvPicPr>
          <p:cNvPr id="6" name="Image 1" descr="im/m_menu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1838417"/>
            <a:ext cx="3611880" cy="226676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343400" y="457200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D2E"/>
                </a:solidFill>
              </a:rPr>
              <a:t>Nos menus (filtres)</a:t>
            </a:r>
            <a:endParaRPr lang="en-US" sz="1400" dirty="0"/>
          </a:p>
        </p:txBody>
      </p:sp>
      <p:pic>
        <p:nvPicPr>
          <p:cNvPr id="8" name="Image 2" descr="im/m_command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0" y="2173885"/>
            <a:ext cx="3611880" cy="1595831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8138160" y="457200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D2E"/>
                </a:solidFill>
              </a:rPr>
              <a:t>Commander un menu</a:t>
            </a:r>
            <a:endParaRPr lang="en-US" sz="1400" dirty="0"/>
          </a:p>
        </p:txBody>
      </p:sp>
      <p:sp>
        <p:nvSpPr>
          <p:cNvPr id="10" name="Text 5"/>
          <p:cNvSpPr txBox="1"/>
          <p:nvPr/>
        </p:nvSpPr>
        <p:spPr>
          <a:xfrm>
            <a:off x="548640" y="52120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A24"/>
                </a:solidFill>
              </a:rPr>
              <a:t>Parcours : accueil, inscription et connexion, consultation des menus et de la galerie, commande, suivi dans Mon compte.</a:t>
            </a:r>
            <a:endParaRPr lang="en-US" sz="1600" dirty="0"/>
          </a:p>
        </p:txBody>
      </p:sp>
      <p:sp>
        <p:nvSpPr>
          <p:cNvPr id="11" name="Text 6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D5F55"/>
                </a:solidFill>
              </a:rPr>
              <a:t>Manuel utilisateur, sections 2, 5 et 7</a:t>
            </a:r>
            <a:endParaRPr lang="en-US" sz="1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Manuel utilisateur : compte, admin, employé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D5F55"/>
                </a:solidFill>
              </a:rPr>
              <a:t>34</a:t>
            </a:r>
            <a:endParaRPr lang="en-US" sz="1000" dirty="0"/>
          </a:p>
        </p:txBody>
      </p:sp>
      <p:pic>
        <p:nvPicPr>
          <p:cNvPr id="4" name="Image 0" descr="im/m_compt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6332" y="1280160"/>
            <a:ext cx="3219576" cy="20116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33375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D2E"/>
                </a:solidFill>
              </a:rPr>
              <a:t>Mon compte</a:t>
            </a:r>
            <a:endParaRPr lang="en-US" sz="1300" dirty="0"/>
          </a:p>
        </p:txBody>
      </p:sp>
      <p:pic>
        <p:nvPicPr>
          <p:cNvPr id="6" name="Image 1" descr="im/m_avi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397941"/>
            <a:ext cx="5394960" cy="1776119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309360" y="33375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D2E"/>
                </a:solidFill>
              </a:rPr>
              <a:t>Mes avis (modération)</a:t>
            </a:r>
            <a:endParaRPr lang="en-US" sz="1300" dirty="0"/>
          </a:p>
        </p:txBody>
      </p:sp>
      <p:pic>
        <p:nvPicPr>
          <p:cNvPr id="8" name="Image 2" descr="im/m_admin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1347" y="3840480"/>
            <a:ext cx="3669547" cy="201168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548640" y="589788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D2E"/>
                </a:solidFill>
              </a:rPr>
              <a:t>Tableau de bord administrateur</a:t>
            </a:r>
            <a:endParaRPr lang="en-US" sz="1300" dirty="0"/>
          </a:p>
        </p:txBody>
      </p:sp>
      <p:pic>
        <p:nvPicPr>
          <p:cNvPr id="10" name="Image 3" descr="im/m_emp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89839" y="3840480"/>
            <a:ext cx="3634003" cy="2011680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6309360" y="589788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D2E"/>
                </a:solidFill>
              </a:rPr>
              <a:t>Tableau de bord employé</a:t>
            </a:r>
            <a:endParaRPr lang="en-US" sz="1300" dirty="0"/>
          </a:p>
        </p:txBody>
      </p:sp>
      <p:sp>
        <p:nvSpPr>
          <p:cNvPr id="12" name="Text 6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D5F55"/>
                </a:solidFill>
              </a:rPr>
              <a:t>Manuel utilisateur, sections 8 à 11</a:t>
            </a:r>
            <a:endParaRPr lang="en-US" sz="11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Synthèse : compétences démontrées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D5F55"/>
                </a:solidFill>
              </a:rPr>
              <a:t>35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17820" cy="2377440"/>
          </a:xfrm>
          <a:prstGeom prst="rect">
            <a:avLst/>
          </a:prstGeom>
          <a:solidFill>
            <a:srgbClr val="E8EEE9"/>
          </a:solidFill>
          <a:ln w="12700">
            <a:solidFill>
              <a:srgbClr val="E8EEE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 txBox="1"/>
          <p:nvPr/>
        </p:nvSpPr>
        <p:spPr>
          <a:xfrm>
            <a:off x="731520" y="1508760"/>
            <a:ext cx="50520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2E"/>
                </a:solidFill>
              </a:rPr>
              <a:t>AT1 : front-end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011680"/>
            <a:ext cx="50520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24"/>
                </a:solidFill>
              </a:rPr>
              <a:t>Maquettes, interfaces statiques et adaptatives, partie dynamique, sécurité des formulaires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95060" y="1371600"/>
            <a:ext cx="5417820" cy="2377440"/>
          </a:xfrm>
          <a:prstGeom prst="rect">
            <a:avLst/>
          </a:prstGeom>
          <a:solidFill>
            <a:srgbClr val="E8EEE9"/>
          </a:solidFill>
          <a:ln w="12700">
            <a:solidFill>
              <a:srgbClr val="E8EEE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 txBox="1"/>
          <p:nvPr/>
        </p:nvSpPr>
        <p:spPr>
          <a:xfrm>
            <a:off x="6377940" y="1508760"/>
            <a:ext cx="50520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2E"/>
                </a:solidFill>
              </a:rPr>
              <a:t>AT2 : back-end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377940" y="2011680"/>
            <a:ext cx="50520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24"/>
                </a:solidFill>
              </a:rPr>
              <a:t>Base de données, accès aux données, composants métier, administration, déploiement et documentation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297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B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Merci de votre attention. Je suis à votre disposition pour vos questions.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</TotalTime>
  <Words>3660</Words>
  <Application>Microsoft Office PowerPoint</Application>
  <PresentationFormat>Grand écran</PresentationFormat>
  <Paragraphs>556</Paragraphs>
  <Slides>39</Slides>
  <Notes>37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39</vt:i4>
      </vt:variant>
    </vt:vector>
  </HeadingPairs>
  <TitlesOfParts>
    <vt:vector size="44" baseType="lpstr">
      <vt:lpstr>Arial</vt:lpstr>
      <vt:lpstr>Calibri</vt:lpstr>
      <vt:lpstr>Consolas</vt:lpstr>
      <vt:lpstr>Georgia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Samuel METELUS</cp:lastModifiedBy>
  <cp:revision>3</cp:revision>
  <dcterms:created xsi:type="dcterms:W3CDTF">2026-09-28T22:02:00Z</dcterms:created>
  <dcterms:modified xsi:type="dcterms:W3CDTF">2026-09-29T00:49:20Z</dcterms:modified>
</cp:coreProperties>
</file>